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80" r:id="rId7"/>
    <p:sldId id="27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7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0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7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7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8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3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4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9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9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5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6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FB9A4-08A6-406A-AF1F-B5064DE354A5}" type="datetimeFigureOut">
              <a:rPr lang="en-US" smtClean="0"/>
              <a:t>9/11/2016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D1B97-B343-4ADF-88FB-6B22DC5AF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1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NOTES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MATHEMATICAL REVIEWS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4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COMPLEX VARIABLES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 A number of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+</m:t>
                    </m:r>
                    <m:r>
                      <a:rPr lang="en-GB" b="0" i="1" smtClean="0">
                        <a:latin typeface="Cambria Math"/>
                      </a:rPr>
                      <m:t>𝑏𝑗</m:t>
                    </m:r>
                  </m:oMath>
                </a14:m>
                <a:r>
                  <a:rPr lang="en-US" dirty="0" smtClean="0"/>
                  <a:t> 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𝑎𝑛𝑑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  are real numbers is called a complex number.</a:t>
                </a:r>
              </a:p>
              <a:p>
                <a:pPr marL="0" indent="0">
                  <a:buNone/>
                </a:pPr>
                <a:r>
                  <a:rPr lang="en-GB" dirty="0" smtClean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𝑗</m:t>
                    </m:r>
                    <m:r>
                      <a:rPr lang="en-GB" b="0" i="1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dirty="0" smtClean="0"/>
                  <a:t>      </a:t>
                </a:r>
              </a:p>
              <a:p>
                <a:pPr marL="0" indent="0">
                  <a:buNone/>
                </a:pPr>
                <a:r>
                  <a:rPr lang="en-GB" dirty="0" smtClean="0"/>
                  <a:t>a = real part</a:t>
                </a:r>
              </a:p>
              <a:p>
                <a:pPr marL="0" indent="0">
                  <a:buNone/>
                </a:pPr>
                <a:r>
                  <a:rPr lang="en-GB" dirty="0" smtClean="0"/>
                  <a:t>b = imaginary part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dirty="0" smtClean="0"/>
                  <a:t>Two complex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 are equal if their real and imaginary parts are equal</a:t>
                </a:r>
              </a:p>
              <a:p>
                <a:pPr marL="0" indent="0">
                  <a:buNone/>
                </a:pPr>
                <a:r>
                  <a:rPr lang="en-GB" dirty="0" err="1" smtClean="0"/>
                  <a:t>i.e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1852" t="-2424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55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Sum of complex numbers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±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±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GB" b="0" i="0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dirty="0" smtClean="0"/>
                  <a:t> +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) → Complex number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 smtClean="0"/>
                  <a:t>Product of  Complex numbers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/>
                      </a:rPr>
                      <m:t>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 smtClean="0"/>
                  <a:t>)*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 +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 smtClean="0"/>
                  <a:t>) → Another</a:t>
                </a:r>
              </a:p>
              <a:p>
                <a:pPr marL="0" indent="0">
                  <a:buNone/>
                </a:pPr>
                <a:r>
                  <a:rPr lang="en-GB" dirty="0" smtClean="0"/>
                  <a:t>Complex number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830" r="-1407" b="-8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39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Division  </a:t>
                </a:r>
                <a:r>
                  <a:rPr lang="en-GB" dirty="0"/>
                  <a:t>of  Complex numbers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/>
                      </a:rPr>
                      <m:t>/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  <a:r>
                  <a:rPr lang="en-GB" dirty="0" smtClean="0"/>
                  <a:t>/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dirty="0"/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GB" dirty="0"/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b="0" i="0" smtClean="0">
                            <a:latin typeface="Cambria Math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GB" dirty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dirty="0"/>
                          <m:t>)</m:t>
                        </m:r>
                        <m:r>
                          <a:rPr lang="en-GB" dirty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b="0" i="0" dirty="0" smtClean="0">
                            <a:latin typeface="Cambria Math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dirty="0"/>
                          <m:t>) 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dirty="0"/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i="1" dirty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GB" dirty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GB" dirty="0"/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 +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− 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dirty="0" smtClean="0"/>
                  <a:t> </a:t>
                </a:r>
              </a:p>
              <a:p>
                <a:pPr marL="0" indent="0">
                  <a:buNone/>
                </a:pPr>
                <a:r>
                  <a:rPr lang="en-GB" dirty="0" smtClean="0"/>
                  <a:t>→ Another complex number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    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504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31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Complex conjugate</a:t>
                </a:r>
              </a:p>
              <a:p>
                <a:pPr marL="0" indent="0">
                  <a:buNone/>
                </a:pPr>
                <a:r>
                  <a:rPr lang="en-GB" dirty="0" smtClean="0"/>
                  <a:t>The complex conjugate of a complex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𝑧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+</m:t>
                    </m:r>
                    <m:r>
                      <a:rPr lang="en-GB" b="0" i="1" smtClean="0">
                        <a:latin typeface="Cambria Math"/>
                      </a:rPr>
                      <m:t>𝑗𝑦</m:t>
                    </m:r>
                  </m:oMath>
                </a14:m>
                <a:r>
                  <a:rPr lang="en-US" dirty="0" smtClean="0"/>
                  <a:t> is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−</m:t>
                    </m:r>
                    <m:r>
                      <a:rPr lang="en-GB" b="0" i="1" smtClean="0">
                        <a:latin typeface="Cambria Math"/>
                      </a:rPr>
                      <m:t>𝑗𝑦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We have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𝑧</m:t>
                    </m:r>
                    <m:r>
                      <a:rPr lang="en-GB" b="0" i="1" smtClean="0">
                        <a:latin typeface="Cambria Math"/>
                      </a:rPr>
                      <m:t>∗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(real)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/>
                              </a:rPr>
                              <m:t>±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GB" b="0" i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*±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*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)*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*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/</m:t>
                        </m:r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)*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GB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*</a:t>
                </a:r>
                <a:r>
                  <a:rPr lang="en-US" dirty="0" smtClean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*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830" b="-8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15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REPRESENTATION OF COMPLEX NUMBERS AS VECTORS IN A 2-D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71800" y="3810000"/>
            <a:ext cx="449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724400" y="1905000"/>
            <a:ext cx="0" cy="3505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Or 7"/>
          <p:cNvSpPr/>
          <p:nvPr/>
        </p:nvSpPr>
        <p:spPr>
          <a:xfrm>
            <a:off x="3333750" y="2480639"/>
            <a:ext cx="2781300" cy="2658722"/>
          </a:xfrm>
          <a:prstGeom prst="flowChar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x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724400" y="2895600"/>
            <a:ext cx="8382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724400" y="3810000"/>
            <a:ext cx="8382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2430" y="2137995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  </a:t>
            </a:r>
            <a:r>
              <a:rPr lang="en-GB" sz="2400" dirty="0" smtClean="0"/>
              <a:t>     z</a:t>
            </a:r>
            <a:r>
              <a:rPr lang="en-GB" dirty="0" smtClean="0"/>
              <a:t>=</a:t>
            </a:r>
            <a:r>
              <a:rPr lang="en-GB" dirty="0" err="1" smtClean="0"/>
              <a:t>x+jy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556884" y="4696690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Z</a:t>
            </a:r>
            <a:r>
              <a:rPr lang="en-GB" sz="2400" dirty="0" smtClean="0"/>
              <a:t>*= x-</a:t>
            </a:r>
            <a:r>
              <a:rPr lang="en-GB" sz="2400" dirty="0" err="1" smtClean="0"/>
              <a:t>jy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4876800" y="1905000"/>
            <a:ext cx="88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 smtClean="0"/>
              <a:t>Im</a:t>
            </a:r>
            <a:r>
              <a:rPr lang="en-GB" dirty="0" smtClean="0"/>
              <a:t>. axis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022908" y="3934691"/>
            <a:ext cx="104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Real  axis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7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81200"/>
            <a:ext cx="4876799" cy="396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240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 smtClean="0"/>
                  <a:t>COMPLEX NUMBERS HAVE A MAGNITUDE(LENGTH) AND A PHASE(ANGLE)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/>
                          </a:rPr>
                          <m:t>𝑍</m:t>
                        </m:r>
                      </m:e>
                    </m:d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/>
                          </a:rPr>
                          <m:t>𝑧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GB" sz="2400" b="0" i="1" smtClean="0">
                                <a:latin typeface="Cambria Math"/>
                              </a:rPr>
                              <m:t>𝑧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 smtClean="0"/>
                  <a:t>  = Magnitude</a:t>
                </a:r>
              </a:p>
              <a:p>
                <a:pPr marL="0" indent="0">
                  <a:buNone/>
                </a:pPr>
                <a:endParaRPr lang="en-GB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Ø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sz="2400" b="0" i="1" smtClean="0">
                            <a:latin typeface="Cambria Math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/>
                              </a:rPr>
                              <m:t>tan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GB" sz="2400" b="0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GB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/>
                              </a:rPr>
                              <m:t>𝑦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400" dirty="0" smtClean="0"/>
                  <a:t>) = Phase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 smtClean="0"/>
                  <a:t>It can be shown that </a:t>
                </a:r>
              </a:p>
              <a:p>
                <a:pPr marL="0" indent="0">
                  <a:buNone/>
                </a:pPr>
                <a:r>
                  <a:rPr lang="en-US" sz="2400" i="0" dirty="0" smtClean="0">
                    <a:latin typeface="+mj-lt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i="0" dirty="0" smtClean="0">
                    <a:latin typeface="+mj-lt"/>
                  </a:rPr>
                  <a:t>|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dirty="0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sz="2400" b="0" i="1" dirty="0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4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GB" sz="2400" b="0" i="1" dirty="0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sz="2400" b="0" i="1" dirty="0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400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sz="2400" i="1" dirty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/</m:t>
                        </m:r>
                        <m:r>
                          <a:rPr lang="en-GB" sz="2400" i="1" dirty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|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4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dirty="0" smtClean="0">
                        <a:latin typeface="Cambria Math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GB" sz="24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b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47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POLAR FORM REPRESENTATION OF COMPLEX NUMBERS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1"/>
            <a:ext cx="49530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14400" y="4969274"/>
                <a:ext cx="4038600" cy="1778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z</m:t>
                    </m:r>
                    <m: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x</m:t>
                    </m:r>
                    <m: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jy</m:t>
                    </m:r>
                    <m: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r</m:t>
                    </m:r>
                    <m:func>
                      <m:funcPr>
                        <m:ctrlP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θ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𝑗𝑟</m:t>
                        </m:r>
                        <m:func>
                          <m:funcPr>
                            <m:ctrlP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θ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=</m:t>
                            </m:r>
                          </m:e>
                        </m:func>
                      </m:e>
                    </m:func>
                  </m:oMath>
                </a14:m>
                <a:r>
                  <a:rPr lang="en-GB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>
                        <a:solidFill>
                          <a:prstClr val="black"/>
                        </a:solidFill>
                        <a:latin typeface="Cambria Math"/>
                      </a:rPr>
                      <m:t>r</m:t>
                    </m:r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a:rPr lang="en-GB" b="0" i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prstClr val="black"/>
                            </a:solidFill>
                            <a:latin typeface="Cambria Math"/>
                          </a:rPr>
                          <m:t>θ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θ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)</m:t>
                            </m:r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θ</m:t>
                                </m:r>
                              </m:sup>
                            </m:sSup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endParaRPr lang="en-GB" dirty="0"/>
              </a:p>
              <a:p>
                <a:r>
                  <a:rPr lang="en-GB" dirty="0" smtClean="0"/>
                  <a:t>Euler’s Identity</a:t>
                </a:r>
              </a:p>
              <a:p>
                <a:endParaRPr lang="en-GB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l-GR" i="1">
                            <a:solidFill>
                              <a:prstClr val="black"/>
                            </a:solidFill>
                            <a:latin typeface="Cambria Math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prstClr val="black"/>
                            </a:solidFill>
                            <a:latin typeface="Cambria Math"/>
                          </a:rPr>
                          <m:t>θ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θ</m:t>
                            </m:r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969274"/>
                <a:ext cx="4038600" cy="1778564"/>
              </a:xfrm>
              <a:prstGeom prst="rect">
                <a:avLst/>
              </a:prstGeom>
              <a:blipFill rotWithShape="1">
                <a:blip r:embed="rId3"/>
                <a:stretch>
                  <a:fillRect l="-1207" t="-1712" b="-4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24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MULTIPLICATION AND DIVISION OF COMPLEX VARIABLES IS MORE EASILY DONE IN POLAR FORM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b="0" i="1" dirty="0" smtClean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dirty="0" smtClean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r>
                          <a:rPr lang="en-GB" b="0" i="1" dirty="0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dirty="0" smtClean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=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 dirty="0">
                                <a:latin typeface="Cambria Math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GB" i="1" dirty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dirty="0">
                                    <a:latin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 dirty="0">
                                <a:latin typeface="Cambria Math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GB" i="1" dirty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dirty="0">
                                    <a:latin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GB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r>
                  <a:rPr lang="en-GB" dirty="0" smtClean="0"/>
                  <a:t> </a:t>
                </a:r>
                <a:r>
                  <a:rPr lang="en-US" dirty="0" smtClean="0"/>
                  <a:t>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/>
                              </a:rPr>
                              <m:t>/</m:t>
                            </m:r>
                            <m:r>
                              <a:rPr lang="en-GB" i="1" dirty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 dirty="0">
                            <a:latin typeface="Cambria Math"/>
                          </a:rPr>
                          <m:t>𝑗</m:t>
                        </m:r>
                        <m:r>
                          <a:rPr lang="en-GB" i="1" dirty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GB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en-GB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i="1" dirty="0"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 smtClean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078" b="-5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96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IMPORTANT TRIGONOMETRIC IDENTITIES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)+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𝑦</m:t>
                            </m:r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𝑗𝑥</m:t>
                        </m:r>
                      </m:sup>
                    </m:sSup>
                    <m:r>
                      <a:rPr lang="en-GB" b="0" i="0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𝑗𝑦</m:t>
                        </m:r>
                      </m:sup>
                    </m:sSup>
                  </m:oMath>
                </a14:m>
                <a:r>
                  <a:rPr lang="en-GB" dirty="0" smtClean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a:rPr lang="en-GB" b="0" i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>
                            <a:solidFill>
                              <a:prstClr val="black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func>
                          <m:func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a:rPr lang="en-GB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𝑦</m:t>
                            </m:r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𝑗</m:t>
                            </m:r>
                            <m:func>
                              <m:funcPr>
                                <m:ctrlPr>
                                  <a:rPr lang="en-GB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GB" dirty="0" smtClean="0"/>
                  <a:t>)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dirty="0" smtClean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GB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  <m:r>
                          <a:rPr lang="en-GB" b="0" i="1" smtClean="0"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GB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func>
                                      <m:funcPr>
                                        <m:ctrlPr>
                                          <a:rPr lang="en-GB" b="0" i="1" smtClean="0">
                                            <a:latin typeface="Cambria Math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  <m:r>
                                          <a:rPr lang="en-GB" b="0" i="1" smtClean="0">
                                            <a:latin typeface="Cambria Math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GB" b="0" i="1" smtClean="0">
                                                <a:latin typeface="Cambria Math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b="0" i="0" smtClean="0">
                                                <a:latin typeface="Cambria Math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GB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GB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GB" b="0" i="0" smtClean="0">
                                                    <a:latin typeface="Cambria Math"/>
                                                  </a:rPr>
                                                  <m:t>sin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GB" b="0" i="1" smtClean="0">
                                                    <a:latin typeface="Cambria Math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func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≫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            </m:t>
                    </m:r>
                    <m:func>
                      <m:func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  <a:ea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/>
                                <a:ea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  <m:func>
                          <m:func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dirty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dirty="0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GB" b="0" i="1" dirty="0" smtClean="0">
                                <a:latin typeface="Cambria Math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GB" b="0" i="1" dirty="0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dirty="0" smtClean="0"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dirty="0" smtClean="0">
                                    <a:latin typeface="Cambria Math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GB" b="0" i="1" dirty="0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dirty="0" smtClean="0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b="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/>
                            </a:rPr>
                            <m:t>sin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(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)=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𝑦</m:t>
                                  </m:r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GB" b="0" i="1" smtClean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0" smtClean="0">
                                              <a:latin typeface="Cambria Math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GB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3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99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PARTIAL FRACTIONS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Example</a:t>
                </a:r>
              </a:p>
              <a:p>
                <a:pPr marL="0" indent="0">
                  <a:buNone/>
                </a:pPr>
                <a:r>
                  <a:rPr lang="en-GB" dirty="0" smtClean="0"/>
                  <a:t>Let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+2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 smtClean="0"/>
                  <a:t>    . Find the partial fraction expansion of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.</m:t>
                    </m:r>
                  </m:oMath>
                </a14:m>
                <a:endParaRPr lang="en-GB" b="0" dirty="0" smtClean="0"/>
              </a:p>
              <a:p>
                <a:pPr marL="0" indent="0">
                  <a:buNone/>
                </a:pPr>
                <a:r>
                  <a:rPr lang="en-GB" dirty="0" smtClean="0">
                    <a:solidFill>
                      <a:srgbClr val="FF0000"/>
                    </a:solidFill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+2</m:t>
                            </m:r>
                          </m:e>
                        </m:d>
                      </m:den>
                    </m:f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𝐴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  <m:r>
                          <a:rPr lang="en-GB" b="0" i="1" smtClean="0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GB" dirty="0" smtClean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</a:rPr>
                          <m:t>𝐵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</a:rPr>
                          <m:t>𝑠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+2</m:t>
                        </m:r>
                      </m:den>
                    </m:f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:r>
                  <a:rPr lang="en-GB" dirty="0" smtClean="0"/>
                  <a:t>Multiplying both sides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  <m:r>
                          <a:rPr lang="en-GB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 smtClean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+2</m:t>
                          </m:r>
                        </m:den>
                      </m:f>
                      <m:r>
                        <a:rPr lang="en-GB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/>
                        </a:rPr>
                        <m:t>A</m:t>
                      </m:r>
                      <m:r>
                        <a:rPr lang="en-GB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𝐵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852" t="-1553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38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=−1, </m:t>
                    </m:r>
                    <m:r>
                      <a:rPr lang="en-GB" b="0" i="1" smtClean="0">
                        <a:latin typeface="Cambria Math"/>
                      </a:rPr>
                      <m:t>𝑤𝑒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𝑔𝑒𝑡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𝐴</m:t>
                    </m:r>
                    <m:r>
                      <a:rPr lang="en-GB" b="0" i="1" smtClean="0">
                        <a:latin typeface="Cambria Math"/>
                      </a:rPr>
                      <m:t>=1</m:t>
                    </m:r>
                  </m:oMath>
                </a14:m>
                <a:endParaRPr lang="en-GB" b="0" dirty="0" smtClean="0"/>
              </a:p>
              <a:p>
                <a:pPr marL="0" indent="0">
                  <a:buNone/>
                </a:pPr>
                <a:r>
                  <a:rPr lang="en-GB" dirty="0" smtClean="0"/>
                  <a:t>Similarly,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𝑠</m:t>
                        </m:r>
                        <m:r>
                          <a:rPr lang="en-GB" i="1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en-GB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B</m:t>
                    </m:r>
                    <m:r>
                      <a:rPr lang="en-GB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/>
                              </a:rPr>
                              <m:t>𝑠</m:t>
                            </m:r>
                            <m:r>
                              <a:rPr lang="en-GB" i="1">
                                <a:latin typeface="Cambria Math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GB" i="1">
                            <a:latin typeface="Cambria Math"/>
                          </a:rPr>
                          <m:t>𝑠</m:t>
                        </m:r>
                        <m:r>
                          <a:rPr lang="en-GB" i="1">
                            <a:latin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 smtClean="0"/>
                  <a:t> and when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 smtClean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=−2,  </m:t>
                    </m:r>
                    <m:r>
                      <a:rPr lang="en-GB" b="0" i="1" smtClean="0">
                        <a:latin typeface="Cambria Math"/>
                      </a:rPr>
                      <m:t>𝑤𝑒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𝑔𝑒𝑡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𝐵</m:t>
                    </m:r>
                    <m:r>
                      <a:rPr lang="en-GB" b="0" i="1" smtClean="0">
                        <a:latin typeface="Cambria Math"/>
                      </a:rPr>
                      <m:t>=−1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GB" dirty="0" smtClean="0"/>
                  <a:t>Hence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  <m:r>
                          <a:rPr lang="en-GB" b="0" i="1" smtClean="0">
                            <a:latin typeface="Cambria Math"/>
                          </a:rPr>
                          <m:t>+1</m:t>
                        </m:r>
                      </m:den>
                    </m:f>
                    <m:r>
                      <a:rPr lang="en-GB" b="0" i="0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  <m:r>
                          <a:rPr lang="en-GB" b="0" i="1" smtClean="0">
                            <a:latin typeface="Cambria Math"/>
                          </a:rPr>
                          <m:t>+2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61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97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>
                    <a:solidFill>
                      <a:srgbClr val="92D050"/>
                    </a:solidFill>
                  </a:rPr>
                  <a:t>TRY</a:t>
                </a:r>
              </a:p>
              <a:p>
                <a:pPr marL="0" indent="0">
                  <a:buNone/>
                </a:pPr>
                <a:r>
                  <a:rPr lang="en-GB" dirty="0" smtClean="0"/>
                  <a:t>Express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+3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 smtClean="0"/>
                  <a:t>  into partial fractions.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84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GEOMETRIC SERIES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Prove that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/>
                            </a:rPr>
                            <m:t>𝑛</m:t>
                          </m:r>
                          <m:r>
                            <a:rPr lang="en-GB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GB" i="1">
                              <a:latin typeface="Cambria Math"/>
                            </a:rPr>
                            <m:t>𝑁</m:t>
                          </m:r>
                          <m:r>
                            <a:rPr lang="en-GB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α</m:t>
                              </m:r>
                            </m:e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GB" i="1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b="0" i="1" smtClean="0"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/>
                                    </a:rPr>
                                    <m:t>α</m:t>
                                  </m:r>
                                </m:den>
                              </m:f>
                              <m:r>
                                <a:rPr lang="en-US" i="1" smtClean="0">
                                  <a:latin typeface="Cambria Math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/>
                                </a:rPr>
                                <m:t>α</m:t>
                              </m:r>
                              <m:r>
                                <a:rPr lang="el-GR" i="1" smtClean="0"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&amp;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,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/>
                                </a:rPr>
                                <m:t>α</m:t>
                              </m:r>
                              <m:r>
                                <a:rPr lang="el-GR" b="0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45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Let</a:t>
                </a:r>
              </a:p>
              <a:p>
                <a:pPr marL="0" indent="0">
                  <a:buNone/>
                </a:pP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/>
                          </a:rPr>
                          <m:t>𝑛</m:t>
                        </m:r>
                        <m:r>
                          <a:rPr lang="en-GB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GB" i="1">
                            <a:latin typeface="Cambria Math"/>
                          </a:rPr>
                          <m:t>𝑁</m:t>
                        </m:r>
                        <m:r>
                          <a:rPr lang="en-GB" i="1">
                            <a:latin typeface="Cambria Math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GB" b="0" i="1" smtClean="0">
                        <a:latin typeface="Cambria Math"/>
                      </a:rPr>
                      <m:t>=1+</m:t>
                    </m:r>
                    <m:r>
                      <m:rPr>
                        <m:sty m:val="p"/>
                      </m:rPr>
                      <a:rPr lang="en-GB" i="1">
                        <a:latin typeface="Cambria Math"/>
                        <a:ea typeface="Cambria Math"/>
                      </a:rPr>
                      <m:t>α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  <a:ea typeface="Cambria Math"/>
                          </a:rPr>
                          <m:t>α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  <a:ea typeface="Cambria Math"/>
                      </a:rPr>
                      <m:t>+…+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  <a:ea typeface="Cambria Math"/>
                          </a:rPr>
                          <m:t>α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𝑁</m:t>
                        </m:r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 smtClean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/>
                        </a:rPr>
                        <m:t>α</m:t>
                      </m:r>
                      <m:r>
                        <a:rPr lang="en-GB" b="0" i="1" smtClean="0">
                          <a:latin typeface="Cambria Math"/>
                        </a:rPr>
                        <m:t>𝑠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α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/>
                            </a:rPr>
                            <m:t>𝑛</m:t>
                          </m:r>
                          <m:r>
                            <a:rPr lang="en-GB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GB" i="1">
                              <a:latin typeface="Cambria Math"/>
                            </a:rPr>
                            <m:t>𝑁</m:t>
                          </m:r>
                          <m:r>
                            <a:rPr lang="en-GB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α</m:t>
                              </m:r>
                            </m:e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α</m:t>
                      </m:r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α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+…+</m:t>
                      </m:r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α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𝑠</m:t>
                      </m:r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</a:rPr>
                        <m:t>α</m:t>
                      </m:r>
                      <m:r>
                        <a:rPr lang="en-GB" b="0" i="1" smtClean="0">
                          <a:latin typeface="Cambria Math"/>
                        </a:rPr>
                        <m:t>𝑠</m:t>
                      </m:r>
                      <m:r>
                        <a:rPr lang="en-GB" b="0" i="1" smtClean="0">
                          <a:latin typeface="Cambria Math"/>
                        </a:rPr>
                        <m:t>=1−</m:t>
                      </m:r>
                      <m:sSup>
                        <m:sSupPr>
                          <m:ctrlPr>
                            <a:rPr lang="en-GB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α</m:t>
                          </m:r>
                        </m:e>
                        <m:sup>
                          <m:r>
                            <a:rPr lang="en-GB" i="1">
                              <a:latin typeface="Cambria Math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Solving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α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</a:rPr>
                      <m:t>α</m:t>
                    </m:r>
                    <m:r>
                      <a:rPr lang="en-GB" b="0" i="1" smtClean="0">
                        <a:latin typeface="Cambria Math"/>
                      </a:rPr>
                      <m:t>=1,  </m:t>
                    </m:r>
                    <m:r>
                      <a:rPr lang="en-GB" b="0" i="1" smtClean="0">
                        <a:latin typeface="Cambria Math"/>
                      </a:rPr>
                      <m:t>𝑡h𝑒𝑛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𝑠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>
                      <a:rPr lang="en-GB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24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Prove that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/>
                            </a:rPr>
                            <m:t>𝑛</m:t>
                          </m:r>
                          <m:r>
                            <a:rPr lang="en-GB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GB" i="1" smtClean="0"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α</m:t>
                              </m:r>
                            </m:e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GB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</a:rPr>
                                    <m:t>α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/>
                                </a:rPr>
                                <m:t>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d>
                              <m:r>
                                <a:rPr lang="en-GB" i="1" smtClean="0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&amp;</m:t>
                              </m:r>
                              <m:r>
                                <a:rPr lang="en-GB" i="1">
                                  <a:latin typeface="Cambria Math"/>
                                </a:rPr>
                                <m:t>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 smtClean="0"/>
                  <a:t>If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α</m:t>
                        </m:r>
                      </m:e>
                    </m:d>
                    <m:r>
                      <a:rPr lang="en-GB" i="1">
                        <a:latin typeface="Cambria Math"/>
                        <a:ea typeface="Cambria Math"/>
                      </a:rPr>
                      <m:t>&lt;1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/>
                              </a:rPr>
                              <m:t>𝑁</m:t>
                            </m:r>
                            <m:r>
                              <a:rPr lang="en-US" i="1" smtClean="0">
                                <a:latin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en-US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  <m:r>
                          <a:rPr lang="en-GB" b="0" i="1" smtClean="0">
                            <a:latin typeface="Cambria Math"/>
                          </a:rPr>
                          <m:t>=0</m:t>
                        </m:r>
                      </m:e>
                    </m:fun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GB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≫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/>
                          </a:rPr>
                          <m:t>𝑛</m:t>
                        </m:r>
                        <m:r>
                          <a:rPr lang="en-GB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GB" i="1">
                            <a:latin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/>
                              </a:rPr>
                              <m:t>𝑁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/>
                                  </a:rPr>
                                  <m:t>𝑁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/>
                              </a:rPr>
                              <m:t>α</m:t>
                            </m:r>
                          </m:den>
                        </m:f>
                      </m:e>
                    </m:func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α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1852" t="-1625" b="-14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38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LINEAR DIFFERENTIAL EQUATIONS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Linear </a:t>
                </a:r>
                <a:r>
                  <a:rPr lang="en-GB" dirty="0"/>
                  <a:t>D</a:t>
                </a:r>
                <a:r>
                  <a:rPr lang="en-GB" dirty="0" smtClean="0"/>
                  <a:t>ifferential Equation is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GB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𝒓</m:t>
                      </m:r>
                      <m:r>
                        <a:rPr lang="en-GB" b="1" i="1" smtClean="0">
                          <a:latin typeface="Cambria Math"/>
                        </a:rPr>
                        <m:t>(</m:t>
                      </m:r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 smtClean="0"/>
              </a:p>
              <a:p>
                <a:pPr marL="0" indent="0">
                  <a:buNone/>
                </a:pPr>
                <a:r>
                  <a:rPr lang="en-GB" dirty="0" smtClean="0"/>
                  <a:t>It is linear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𝑎𝑛𝑑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𝑦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𝑝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𝑎𝑛𝑑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𝑟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𝑚𝑎𝑦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𝑏𝑒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𝑎𝑛𝑦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𝑔𝑖𝑣𝑒𝑛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𝑓𝑢𝑛𝑐𝑡𝑖𝑜𝑛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𝑜𝑓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𝑖𝑓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GB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=0 </m:t>
                    </m:r>
                    <m:r>
                      <a:rPr lang="en-GB" b="0" i="1" smtClean="0">
                        <a:latin typeface="Cambria Math"/>
                      </a:rPr>
                      <m:t>𝑡h𝑒𝑛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b="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/>
                          </a:rPr>
                          <m:t>𝒚</m:t>
                        </m:r>
                      </m:e>
                      <m:sup>
                        <m:r>
                          <a:rPr lang="en-GB" b="1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GB" b="1" i="1">
                        <a:latin typeface="Cambria Math"/>
                      </a:rPr>
                      <m:t>+</m:t>
                    </m:r>
                    <m:r>
                      <a:rPr lang="en-GB" b="1" i="1"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GB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GB" b="1" i="1">
                        <a:latin typeface="Cambria Math"/>
                      </a:rPr>
                      <m:t>𝒚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>
                      <a:rPr lang="en-GB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 smtClean="0"/>
                  <a:t>, </a:t>
                </a:r>
                <a:r>
                  <a:rPr lang="en-US" dirty="0" smtClean="0"/>
                  <a:t>then the equation is said to be homogeneous.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GB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b="-40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49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LINEAR DIFFERENTIAL EQUATIONS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A second order LDE (homogeneous) is written as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′′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GB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sSup>
                        <m:sSupPr>
                          <m:ctrlPr>
                            <a:rPr lang="en-GB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𝒒</m:t>
                      </m:r>
                      <m:d>
                        <m:dPr>
                          <m:ctrlPr>
                            <a:rPr lang="en-GB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𝟎</m:t>
                      </m:r>
                      <m:r>
                        <a:rPr lang="en-GB" b="1" i="1" smtClean="0">
                          <a:latin typeface="Cambria Math"/>
                        </a:rPr>
                        <m:t>  …….(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b="1" dirty="0" smtClean="0"/>
              </a:p>
              <a:p>
                <a:pPr marL="0" indent="0">
                  <a:buNone/>
                </a:pPr>
                <a:r>
                  <a:rPr lang="en-GB" dirty="0" smtClean="0"/>
                  <a:t>For a constant coefficient LDE we have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′′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𝒂</m:t>
                      </m:r>
                      <m:sSup>
                        <m:sSupPr>
                          <m:ctrlPr>
                            <a:rPr lang="en-GB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𝒚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𝒃</m:t>
                      </m:r>
                      <m:r>
                        <a:rPr lang="en-GB" b="1" i="1">
                          <a:latin typeface="Cambria Math"/>
                        </a:rPr>
                        <m:t>𝒚</m:t>
                      </m:r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𝟎</m:t>
                      </m:r>
                      <m:r>
                        <a:rPr lang="en-GB" b="1" i="1" smtClean="0">
                          <a:latin typeface="Cambria Math"/>
                        </a:rPr>
                        <m:t>……………(</m:t>
                      </m:r>
                      <m:r>
                        <a:rPr lang="en-GB" b="1" i="1" smtClean="0">
                          <a:latin typeface="Cambria Math"/>
                        </a:rPr>
                        <m:t>𝟐</m:t>
                      </m:r>
                      <m:r>
                        <a:rPr lang="en-GB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GB" i="1" dirty="0">
                    <a:latin typeface="Cambria Math"/>
                  </a:rPr>
                  <a:t>w</a:t>
                </a:r>
                <a:r>
                  <a:rPr lang="en-GB" b="0" i="1" dirty="0" smtClean="0">
                    <a:latin typeface="Cambria Math"/>
                  </a:rPr>
                  <a:t>here  a and b are constants and are real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GB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2370" b="-40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581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of LDE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/>
                          </a:rPr>
                          <m:t>λ</m:t>
                        </m:r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…..(3)</m:t>
                    </m:r>
                  </m:oMath>
                </a14:m>
                <a:r>
                  <a:rPr lang="en-US" dirty="0" smtClean="0"/>
                  <a:t> is a solution,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GB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/>
                            </a:rPr>
                            <m:t>λ</m:t>
                          </m:r>
                          <m:r>
                            <a:rPr lang="en-GB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  <m:r>
                            <a:rPr lang="en-GB" i="1">
                              <a:latin typeface="Cambria Math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    </m:t>
                      </m:r>
                      <m:r>
                        <a:rPr lang="en-GB" b="0" i="1" smtClean="0">
                          <a:latin typeface="Cambria Math"/>
                        </a:rPr>
                        <m:t>𝑎𝑛𝑑</m:t>
                      </m:r>
                      <m:r>
                        <a:rPr lang="en-GB" b="0" i="1" smtClean="0">
                          <a:latin typeface="Cambria Math"/>
                        </a:rPr>
                        <m:t> </m:t>
                      </m:r>
                      <m:r>
                        <a:rPr lang="en-GB" i="1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′′</m:t>
                      </m:r>
                      <m:r>
                        <a:rPr lang="en-GB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/>
                            </a:rPr>
                            <m:t>λ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  <m:r>
                            <a:rPr lang="en-GB" i="1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Putting these in (2), we obtain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/>
                            </a:rPr>
                            <m:t>λ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  <m:sSup>
                        <m:sSupPr>
                          <m:ctrlPr>
                            <a:rPr lang="en-GB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  <m:r>
                            <a:rPr lang="en-GB" i="1">
                              <a:latin typeface="Cambria Math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(3) Is a solution of (2) if  </a:t>
                </a:r>
                <a:r>
                  <a:rPr lang="el-GR" dirty="0" smtClean="0"/>
                  <a:t>λ</a:t>
                </a:r>
                <a:r>
                  <a:rPr lang="en-GB" dirty="0" smtClean="0"/>
                  <a:t> is a solution of the quadratic equation;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latin typeface="Cambria Math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λ</m:t>
                        </m:r>
                        <m:r>
                          <a:rPr lang="en-GB" i="1">
                            <a:latin typeface="Cambria Math"/>
                          </a:rPr>
                          <m:t>+</m:t>
                        </m:r>
                        <m:r>
                          <a:rPr lang="en-GB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GB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GB" dirty="0" smtClean="0"/>
                  <a:t>This is called the characteristics equation of (2)</a:t>
                </a:r>
              </a:p>
              <a:p>
                <a:pPr marL="0" indent="0">
                  <a:buNone/>
                </a:pPr>
                <a:r>
                  <a:rPr lang="en-GB" dirty="0" smtClean="0"/>
                  <a:t>Its roots are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078" b="-15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248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(−</m:t>
                    </m:r>
                    <m:r>
                      <a:rPr lang="en-GB" b="0" i="1" smtClean="0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/>
                              </a:rPr>
                              <m:t>2 </m:t>
                            </m:r>
                          </m:sup>
                        </m:sSup>
                        <m:r>
                          <a:rPr lang="en-GB" b="0" i="1" smtClean="0">
                            <a:latin typeface="Cambria Math"/>
                          </a:rPr>
                          <m:t>−4</m:t>
                        </m:r>
                        <m:r>
                          <a:rPr lang="en-GB" b="0" i="1" smtClean="0">
                            <a:latin typeface="Cambria Math"/>
                          </a:rPr>
                          <m:t>𝑏</m:t>
                        </m:r>
                        <m:r>
                          <a:rPr lang="en-GB" b="0" i="1" smtClean="0">
                            <a:latin typeface="Cambria Math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dirty="0" smtClean="0"/>
                  <a:t>   and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(−</m:t>
                    </m:r>
                    <m:r>
                      <a:rPr lang="en-GB" i="1">
                        <a:latin typeface="Cambria Math"/>
                      </a:rPr>
                      <m:t>𝑎</m:t>
                    </m:r>
                    <m:r>
                      <a:rPr lang="en-GB" b="0" i="1" smtClean="0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2 </m:t>
                            </m:r>
                          </m:sup>
                        </m:sSup>
                        <m:r>
                          <a:rPr lang="en-GB" i="1">
                            <a:latin typeface="Cambria Math"/>
                          </a:rPr>
                          <m:t>−4</m:t>
                        </m:r>
                        <m:r>
                          <a:rPr lang="en-GB" i="1">
                            <a:latin typeface="Cambria Math"/>
                          </a:rPr>
                          <m:t>𝑏</m:t>
                        </m:r>
                        <m:r>
                          <a:rPr lang="en-GB" b="0" i="1" smtClean="0">
                            <a:latin typeface="Cambria Math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=</m:t>
                        </m:r>
                        <m:r>
                          <a:rPr lang="en-GB" i="1">
                            <a:latin typeface="Cambria Math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GB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=</m:t>
                        </m:r>
                        <m:r>
                          <a:rPr lang="en-GB" i="1">
                            <a:latin typeface="Cambria Math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GB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 smtClean="0"/>
                  <a:t>  are solutions of equation (2).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 smtClean="0"/>
                  <a:t>The characteristics equation may have </a:t>
                </a:r>
              </a:p>
              <a:p>
                <a:pPr marL="0" indent="0">
                  <a:buNone/>
                </a:pPr>
                <a:r>
                  <a:rPr lang="en-GB" dirty="0" smtClean="0"/>
                  <a:t>Case I: two distinct roots</a:t>
                </a:r>
              </a:p>
              <a:p>
                <a:pPr marL="0" indent="0">
                  <a:buNone/>
                </a:pPr>
                <a:r>
                  <a:rPr lang="en-GB" dirty="0" smtClean="0"/>
                  <a:t>Case II: two complex conjugate roots</a:t>
                </a:r>
              </a:p>
              <a:p>
                <a:pPr marL="0" indent="0">
                  <a:buNone/>
                </a:pPr>
                <a:r>
                  <a:rPr lang="en-GB" dirty="0" smtClean="0"/>
                  <a:t>Case III: a real double roots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704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92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 smtClean="0"/>
                  <a:t>Find the solutions of the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b="0" i="1">
                              <a:latin typeface="Cambria Math"/>
                            </a:rPr>
                            <m:t>′′</m:t>
                          </m:r>
                        </m:sup>
                      </m:sSup>
                      <m:r>
                        <a:rPr lang="en-GB" b="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b="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−2</m:t>
                      </m:r>
                      <m:r>
                        <a:rPr lang="en-GB" b="0" i="1">
                          <a:latin typeface="Cambria Math"/>
                        </a:rPr>
                        <m:t>𝑦</m:t>
                      </m:r>
                      <m:r>
                        <a:rPr lang="en-GB" b="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dirty="0" smtClean="0"/>
              </a:p>
              <a:p>
                <a:pPr marL="0" indent="0">
                  <a:buNone/>
                </a:pPr>
                <a:r>
                  <a:rPr lang="en-GB" b="1" dirty="0" smtClean="0"/>
                  <a:t>Solution</a:t>
                </a:r>
              </a:p>
              <a:p>
                <a:pPr marL="0" indent="0">
                  <a:buNone/>
                </a:pPr>
                <a:r>
                  <a:rPr lang="en-GB" dirty="0" smtClean="0"/>
                  <a:t>The characteristic equation is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λ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−2=0</m:t>
                          </m:r>
                        </m:e>
                      </m:d>
                    </m:oMath>
                  </m:oMathPara>
                </a14:m>
                <a:endParaRPr lang="en-GB" dirty="0" smtClean="0"/>
              </a:p>
              <a:p>
                <a:pPr marL="0" indent="0">
                  <a:buNone/>
                </a:pPr>
                <a:r>
                  <a:rPr lang="en-GB" dirty="0" smtClean="0"/>
                  <a:t>With roots 1 and -2 and hence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=</m:t>
                        </m:r>
                        <m:r>
                          <a:rPr lang="en-GB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=</m:t>
                        </m:r>
                        <m:r>
                          <a:rPr lang="en-GB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−2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 smtClean="0"/>
                  <a:t> are solutions.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31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1861</Words>
  <Application>Microsoft Office PowerPoint</Application>
  <PresentationFormat>On-screen Show (4:3)</PresentationFormat>
  <Paragraphs>144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LECTURE NOTES 1</vt:lpstr>
      <vt:lpstr>COMPLEX VARIABLES</vt:lpstr>
      <vt:lpstr>PowerPoint Presentation</vt:lpstr>
      <vt:lpstr>PowerPoint Presentation</vt:lpstr>
      <vt:lpstr>PowerPoint Presentation</vt:lpstr>
      <vt:lpstr>REPRESENTATION OF COMPLEX NUMBERS AS VECTORS IN A 2-D PLANE</vt:lpstr>
      <vt:lpstr>PowerPoint Presentation</vt:lpstr>
      <vt:lpstr>PowerPoint Presentation</vt:lpstr>
      <vt:lpstr>POLAR FORM REPRESENTATION OF COMPLEX NUMBERS</vt:lpstr>
      <vt:lpstr>MULTIPLICATION AND DIVISION OF COMPLEX VARIABLES IS MORE EASILY DONE IN POLAR FORM</vt:lpstr>
      <vt:lpstr>IMPORTANT TRIGONOMETRIC IDENTITIES</vt:lpstr>
      <vt:lpstr>PARTIAL FRACTIONS</vt:lpstr>
      <vt:lpstr>PowerPoint Presentation</vt:lpstr>
      <vt:lpstr>PowerPoint Presentation</vt:lpstr>
      <vt:lpstr>GEOMETRIC SERIES</vt:lpstr>
      <vt:lpstr>PowerPoint Presentation</vt:lpstr>
      <vt:lpstr>PowerPoint Presentation</vt:lpstr>
      <vt:lpstr>LINEAR DIFFERENTIAL EQUATIONS</vt:lpstr>
      <vt:lpstr>LINEAR DIFFERENTIAL EQUATIONS</vt:lpstr>
      <vt:lpstr>Solution of LDE</vt:lpstr>
      <vt:lpstr>PowerPoint Presentation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60</cp:revision>
  <dcterms:created xsi:type="dcterms:W3CDTF">2015-07-12T07:36:52Z</dcterms:created>
  <dcterms:modified xsi:type="dcterms:W3CDTF">2016-09-11T15:07:22Z</dcterms:modified>
</cp:coreProperties>
</file>