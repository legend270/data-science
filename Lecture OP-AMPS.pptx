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1"/>
  </p:notesMasterIdLst>
  <p:sldIdLst>
    <p:sldId id="256" r:id="rId2"/>
    <p:sldId id="333" r:id="rId3"/>
    <p:sldId id="257" r:id="rId4"/>
    <p:sldId id="307" r:id="rId5"/>
    <p:sldId id="309" r:id="rId6"/>
    <p:sldId id="311" r:id="rId7"/>
    <p:sldId id="312" r:id="rId8"/>
    <p:sldId id="313" r:id="rId9"/>
    <p:sldId id="315" r:id="rId10"/>
    <p:sldId id="316" r:id="rId11"/>
    <p:sldId id="317" r:id="rId12"/>
    <p:sldId id="314" r:id="rId13"/>
    <p:sldId id="318" r:id="rId14"/>
    <p:sldId id="349" r:id="rId15"/>
    <p:sldId id="350" r:id="rId16"/>
    <p:sldId id="324" r:id="rId17"/>
    <p:sldId id="325" r:id="rId18"/>
    <p:sldId id="321" r:id="rId19"/>
    <p:sldId id="322" r:id="rId20"/>
    <p:sldId id="326" r:id="rId21"/>
    <p:sldId id="323" r:id="rId22"/>
    <p:sldId id="327" r:id="rId23"/>
    <p:sldId id="329" r:id="rId24"/>
    <p:sldId id="331" r:id="rId25"/>
    <p:sldId id="332" r:id="rId26"/>
    <p:sldId id="335" r:id="rId27"/>
    <p:sldId id="336" r:id="rId28"/>
    <p:sldId id="337" r:id="rId29"/>
    <p:sldId id="338" r:id="rId30"/>
    <p:sldId id="334" r:id="rId31"/>
    <p:sldId id="339" r:id="rId32"/>
    <p:sldId id="341" r:id="rId33"/>
    <p:sldId id="342" r:id="rId34"/>
    <p:sldId id="340" r:id="rId35"/>
    <p:sldId id="343" r:id="rId36"/>
    <p:sldId id="352" r:id="rId37"/>
    <p:sldId id="348" r:id="rId38"/>
    <p:sldId id="353" r:id="rId39"/>
    <p:sldId id="354" r:id="rId40"/>
  </p:sldIdLst>
  <p:sldSz cx="12192000" cy="6858000"/>
  <p:notesSz cx="6858000" cy="9144000"/>
  <p:embeddedFontLst>
    <p:embeddedFont>
      <p:font typeface="Montserrat" panose="020B0604020202020204" charset="0"/>
      <p:regular r:id="rId42"/>
      <p:bold r:id="rId43"/>
      <p:italic r:id="rId44"/>
      <p:boldItalic r:id="rId45"/>
    </p:embeddedFont>
    <p:embeddedFont>
      <p:font typeface="Cambria Math" panose="02040503050406030204" pitchFamily="18" charset="0"/>
      <p:regular r:id="rId46"/>
    </p:embeddedFont>
    <p:embeddedFont>
      <p:font typeface="Calibri" panose="020F0502020204030204" pitchFamily="34" charset="0"/>
      <p:regular r:id="rId47"/>
      <p:bold r:id="rId48"/>
      <p:italic r:id="rId49"/>
      <p:boldItalic r:id="rId50"/>
    </p:embeddedFont>
    <p:embeddedFont>
      <p:font typeface="Bahnschrift Light" panose="020B0502040204020203" pitchFamily="34" charset="0"/>
      <p:regular r:id="rId5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12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26" y="5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1.fntdata"/><Relationship Id="rId47" Type="http://schemas.openxmlformats.org/officeDocument/2006/relationships/font" Target="fonts/font6.fntdata"/><Relationship Id="rId50" Type="http://schemas.openxmlformats.org/officeDocument/2006/relationships/font" Target="fonts/font9.fntdata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4.fntdata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3.fntdata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2.fntdata"/><Relationship Id="rId48" Type="http://schemas.openxmlformats.org/officeDocument/2006/relationships/font" Target="fonts/font7.fntdata"/><Relationship Id="rId8" Type="http://schemas.openxmlformats.org/officeDocument/2006/relationships/slide" Target="slides/slide7.xml"/><Relationship Id="rId51" Type="http://schemas.openxmlformats.org/officeDocument/2006/relationships/font" Target="fonts/font10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5.fntdata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H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H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lang="en-GH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10180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355517" y="2178680"/>
            <a:ext cx="5367666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2021517" y="-374020"/>
            <a:ext cx="5367666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H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H"/>
              <a:t>‹#›</a:t>
            </a:fld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ontserrat"/>
              <a:buNone/>
              <a:defRPr sz="4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520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</a:pPr>
            <a:r>
              <a:rPr lang="en-GH" sz="6000"/>
              <a:t>EE 371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</a:pPr>
            <a:r>
              <a:rPr lang="en-GH" sz="5400"/>
              <a:t>MICROELECTRONIC DEVICES AND CIRCUITS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CAEE3-5FD4-4D9F-88FF-8619A78D2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3108158" cy="1058780"/>
          </a:xfrm>
        </p:spPr>
        <p:txBody>
          <a:bodyPr>
            <a:normAutofit/>
          </a:bodyPr>
          <a:lstStyle/>
          <a:p>
            <a:r>
              <a:rPr lang="en-US" b="1" dirty="0"/>
              <a:t>Outline</a:t>
            </a:r>
            <a:r>
              <a:rPr lang="en-US" dirty="0"/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93772B-23DD-4EDF-B9FF-2EE4B557E5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058780"/>
            <a:ext cx="10896600" cy="5118183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Introduction to Operational Amplifiers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Basic Amplifier Characteristics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/>
                </a:solidFill>
              </a:rPr>
              <a:t>Modeling the </a:t>
            </a:r>
            <a:r>
              <a:rPr lang="en-US" b="1" dirty="0" smtClean="0">
                <a:solidFill>
                  <a:schemeClr val="tx1"/>
                </a:solidFill>
              </a:rPr>
              <a:t>Op-Amp</a:t>
            </a:r>
            <a:endParaRPr lang="en-US" b="1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Basic Applications Of The </a:t>
            </a:r>
            <a:r>
              <a:rPr lang="en-US" b="1" dirty="0" smtClean="0"/>
              <a:t>Op-Amp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 smtClean="0"/>
              <a:t>Differential Amplifiers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 smtClean="0"/>
              <a:t>Non-ideal </a:t>
            </a:r>
            <a:r>
              <a:rPr lang="en-US" b="1" dirty="0"/>
              <a:t>Characteristics Of </a:t>
            </a:r>
            <a:r>
              <a:rPr lang="en-US" b="1" dirty="0" smtClean="0"/>
              <a:t>Op-Amps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91794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xfrm>
            <a:off x="838200" y="815974"/>
            <a:ext cx="9749590" cy="194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SzPts val="4400"/>
            </a:pPr>
            <a:r>
              <a:rPr lang="en-US" b="1" dirty="0"/>
              <a:t>Introduction to Operational Amplifiers</a:t>
            </a:r>
            <a:r>
              <a:rPr lang="en-US" dirty="0"/>
              <a:t/>
            </a:r>
            <a:br>
              <a:rPr lang="en-US" dirty="0"/>
            </a:br>
            <a:endParaRPr dirty="0"/>
          </a:p>
        </p:txBody>
      </p:sp>
      <p:sp>
        <p:nvSpPr>
          <p:cNvPr id="95" name="Google Shape;95;p14"/>
          <p:cNvSpPr txBox="1">
            <a:spLocks noGrp="1"/>
          </p:cNvSpPr>
          <p:nvPr>
            <p:ph type="body" idx="1"/>
          </p:nvPr>
        </p:nvSpPr>
        <p:spPr>
          <a:xfrm>
            <a:off x="838200" y="1179095"/>
            <a:ext cx="10515600" cy="4862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Operational Amplifiers (OpAmps)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One of the primary active devices in analog electronics, second only to transistors.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Used in low and intermediate frequency applications.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Widely accepted due to their usefulness, predictability, and cost-effectiveness.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Fundamental for learning electronics circuit design and analysis.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What Makes OpAmps Important?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Easily configurable for various linear and non-linear functions.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Originally developed with vacuum tubes, now integrated as transistorized circuits.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0F6AE-69D6-44B6-934B-CFE4353BB8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8988" y="1203157"/>
            <a:ext cx="9400673" cy="637673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 Applications And Concept of </a:t>
            </a:r>
            <a:r>
              <a:rPr lang="en-US" sz="4000" b="1" dirty="0" err="1"/>
              <a:t>Opamps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613607-945A-4BF2-B710-AB73AE0922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5641" y="1203156"/>
            <a:ext cx="10876547" cy="5438275"/>
          </a:xfrm>
        </p:spPr>
        <p:txBody>
          <a:bodyPr>
            <a:normAutofit/>
          </a:bodyPr>
          <a:lstStyle/>
          <a:p>
            <a:pPr algn="l">
              <a:buFont typeface="Wingdings" panose="05000000000000000000" pitchFamily="2" charset="2"/>
              <a:buChar char="v"/>
            </a:pPr>
            <a:r>
              <a:rPr lang="en-US" b="1" dirty="0"/>
              <a:t>Common Applications:</a:t>
            </a:r>
            <a:endParaRPr lang="en-US" dirty="0"/>
          </a:p>
          <a:p>
            <a:pPr algn="l">
              <a:buFont typeface="Wingdings" panose="05000000000000000000" pitchFamily="2" charset="2"/>
              <a:buChar char="ü"/>
            </a:pPr>
            <a:r>
              <a:rPr lang="en-US" dirty="0"/>
              <a:t>Signal Processing</a:t>
            </a:r>
            <a:r>
              <a:rPr lang="en-US" b="1" dirty="0"/>
              <a:t>:</a:t>
            </a:r>
            <a:r>
              <a:rPr lang="en-US" dirty="0"/>
              <a:t> Filters, limiters, synthesizers.</a:t>
            </a:r>
          </a:p>
          <a:p>
            <a:pPr algn="l">
              <a:buFont typeface="Wingdings" panose="05000000000000000000" pitchFamily="2" charset="2"/>
              <a:buChar char="ü"/>
            </a:pPr>
            <a:r>
              <a:rPr lang="en-US" dirty="0"/>
              <a:t>Communication Circuits</a:t>
            </a:r>
            <a:r>
              <a:rPr lang="en-US" b="1" dirty="0"/>
              <a:t>:</a:t>
            </a:r>
            <a:r>
              <a:rPr lang="en-US" dirty="0"/>
              <a:t> Oscillators, modulators, phase-locked loops.</a:t>
            </a:r>
          </a:p>
          <a:p>
            <a:pPr algn="l">
              <a:buFont typeface="Wingdings" panose="05000000000000000000" pitchFamily="2" charset="2"/>
              <a:buChar char="ü"/>
            </a:pPr>
            <a:r>
              <a:rPr lang="en-US" dirty="0"/>
              <a:t>Analog/Digital Conversion</a:t>
            </a:r>
            <a:r>
              <a:rPr lang="en-US" b="1" dirty="0"/>
              <a:t>:</a:t>
            </a:r>
            <a:r>
              <a:rPr lang="en-US" dirty="0"/>
              <a:t> A/D and D/A converters.</a:t>
            </a:r>
          </a:p>
          <a:p>
            <a:pPr algn="l">
              <a:buFont typeface="Wingdings" panose="05000000000000000000" pitchFamily="2" charset="2"/>
              <a:buChar char="ü"/>
            </a:pPr>
            <a:r>
              <a:rPr lang="en-US" dirty="0"/>
              <a:t>Mathematical Operations: Multipliers, dividers, adders.</a:t>
            </a:r>
          </a:p>
          <a:p>
            <a:pPr algn="l">
              <a:buFont typeface="Wingdings" panose="05000000000000000000" pitchFamily="2" charset="2"/>
              <a:buChar char="ü"/>
            </a:pPr>
            <a:endParaRPr lang="en-US" dirty="0"/>
          </a:p>
          <a:p>
            <a:pPr algn="l">
              <a:buFont typeface="Wingdings" panose="05000000000000000000" pitchFamily="2" charset="2"/>
              <a:buChar char="v"/>
            </a:pPr>
            <a:r>
              <a:rPr lang="en-US" b="1" dirty="0"/>
              <a:t>Concept:</a:t>
            </a:r>
            <a:endParaRPr lang="en-US" dirty="0"/>
          </a:p>
          <a:p>
            <a:pPr algn="l">
              <a:buFont typeface="Wingdings" panose="05000000000000000000" pitchFamily="2" charset="2"/>
              <a:buChar char="ü"/>
            </a:pPr>
            <a:r>
              <a:rPr lang="en-US" dirty="0"/>
              <a:t>OpAmps are building blocks described by their terminal characteristics.</a:t>
            </a:r>
          </a:p>
          <a:p>
            <a:pPr algn="l">
              <a:buFont typeface="Wingdings" panose="05000000000000000000" pitchFamily="2" charset="2"/>
              <a:buChar char="ü"/>
            </a:pPr>
            <a:r>
              <a:rPr lang="en-US" dirty="0"/>
              <a:t>Can be modeled using resistors, capacitors, and voltage sources</a:t>
            </a:r>
          </a:p>
          <a:p>
            <a:pPr algn="l">
              <a:buFont typeface="Wingdings" panose="05000000000000000000" pitchFamily="2" charset="2"/>
              <a:buChar char="ü"/>
            </a:pPr>
            <a:r>
              <a:rPr lang="en-US" dirty="0"/>
              <a:t>Foundation for circuit design by interconnecting active and passive components.</a:t>
            </a:r>
          </a:p>
          <a:p>
            <a:pPr algn="l">
              <a:buFont typeface="Wingdings" panose="05000000000000000000" pitchFamily="2" charset="2"/>
              <a:buChar char="ü"/>
            </a:pPr>
            <a:endParaRPr lang="en-US" dirty="0"/>
          </a:p>
          <a:p>
            <a:pPr algn="l">
              <a:buFont typeface="Wingdings" panose="05000000000000000000" pitchFamily="2" charset="2"/>
              <a:buChar char="ü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2815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D1A19-F345-4784-B5DE-875EE502B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631" y="283995"/>
            <a:ext cx="10515600" cy="794084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Basic Amplifier Characteristics</a:t>
            </a:r>
            <a:br>
              <a:rPr lang="en-US" b="1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FFF2183-4171-40E6-8CF7-22CC6880DBB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240633" y="1395663"/>
                <a:ext cx="11766884" cy="4781300"/>
              </a:xfrm>
            </p:spPr>
            <p:txBody>
              <a:bodyPr>
                <a:normAutofit fontScale="77500" lnSpcReduction="20000"/>
              </a:bodyPr>
              <a:lstStyle/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sz="3100" dirty="0"/>
                  <a:t>An amplifier is a device that increases the amplitude of a signal without significantly altering its waveform</a:t>
                </a:r>
              </a:p>
              <a:p>
                <a:pPr>
                  <a:buFont typeface="Wingdings" panose="05000000000000000000" pitchFamily="2" charset="2"/>
                  <a:buChar char="ü"/>
                </a:pPr>
                <a:endParaRPr lang="en-US" sz="3100" dirty="0"/>
              </a:p>
              <a:p>
                <a:pPr>
                  <a:buFont typeface="Wingdings" panose="05000000000000000000" pitchFamily="2" charset="2"/>
                  <a:buChar char="ü"/>
                </a:pPr>
                <a:endParaRPr lang="en-US" sz="3100" dirty="0"/>
              </a:p>
              <a:p>
                <a:pPr>
                  <a:buFont typeface="Wingdings" panose="05000000000000000000" pitchFamily="2" charset="2"/>
                  <a:buChar char="ü"/>
                </a:pPr>
                <a:endParaRPr lang="en-US" sz="3100" dirty="0"/>
              </a:p>
              <a:p>
                <a:pPr>
                  <a:buFont typeface="Wingdings" panose="05000000000000000000" pitchFamily="2" charset="2"/>
                  <a:buChar char="ü"/>
                </a:pPr>
                <a:endParaRPr lang="en-US" sz="3100" dirty="0"/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sz="3100" dirty="0"/>
                  <a:t>Amplifiers are essential in electronic systems for signal processing, communication, and control systems.</a:t>
                </a:r>
              </a:p>
              <a:p>
                <a:pPr marL="114300" indent="0">
                  <a:buNone/>
                </a:pPr>
                <a:r>
                  <a:rPr lang="en-US" sz="3100" dirty="0"/>
                  <a:t>Gain</a:t>
                </a:r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sz="3100" dirty="0"/>
                  <a:t>Definition: The ratio of the output signal amplitude to the input signal amplitude.</a:t>
                </a:r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sz="3100" dirty="0"/>
                  <a:t>Formula: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1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31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  <m:r>
                      <a:rPr lang="en-US" sz="3100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1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3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1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3100" b="0" i="1" smtClean="0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3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1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3100" b="0" i="1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den>
                    </m:f>
                  </m:oMath>
                </a14:m>
                <a:endParaRPr lang="en-US" sz="3100" dirty="0"/>
              </a:p>
              <a:p>
                <a:pPr marL="114300" indent="0">
                  <a:buNone/>
                </a:pPr>
                <a:r>
                  <a:rPr lang="en-US" sz="3100" dirty="0"/>
                  <a:t>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10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en-US" sz="3100" dirty="0"/>
                  <a:t> is the gain,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1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3100" i="1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</m:oMath>
                </a14:m>
                <a:r>
                  <a:rPr lang="en-US" sz="3100" dirty="0"/>
                  <a:t> is the output voltage,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1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3100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sz="31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100" dirty="0"/>
                  <a:t>is the input voltage. 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FFF2183-4171-40E6-8CF7-22CC6880DB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40633" y="1395663"/>
                <a:ext cx="11766884" cy="4781300"/>
              </a:xfrm>
              <a:blipFill>
                <a:blip r:embed="rId2"/>
                <a:stretch>
                  <a:fillRect t="-5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F16C57AE-C0BD-4860-91E7-C0892F1549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2926" y="2237874"/>
            <a:ext cx="2819765" cy="1191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945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9EFED-612D-40EC-8577-DCA9FF2FB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8955505" cy="621464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Basic Amplifier Characteristics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2553ED9-AC97-40C1-BC32-B0A161BDF4B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09074" y="986590"/>
                <a:ext cx="11309684" cy="5190373"/>
              </a:xfrm>
            </p:spPr>
            <p:txBody>
              <a:bodyPr>
                <a:normAutofit fontScale="85000" lnSpcReduction="20000"/>
              </a:bodyPr>
              <a:lstStyle/>
              <a:p>
                <a:pPr marL="114300" indent="0">
                  <a:buNone/>
                </a:pPr>
                <a:r>
                  <a:rPr lang="en-US" dirty="0"/>
                  <a:t>Types of Gain:</a:t>
                </a:r>
              </a:p>
              <a:p>
                <a:pPr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/>
                          <m:t>Voltage</m:t>
                        </m:r>
                        <m:r>
                          <m:rPr>
                            <m:nor/>
                          </m:rPr>
                          <a:rPr lang="en-US"/>
                          <m:t> </m:t>
                        </m:r>
                        <m:r>
                          <m:rPr>
                            <m:nor/>
                          </m:rPr>
                          <a:rPr lang="en-US"/>
                          <m:t>Gain</m:t>
                        </m:r>
                        <m:r>
                          <m:rPr>
                            <m:nor/>
                          </m:rPr>
                          <a:rPr lang="en-US"/>
                          <m:t>: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dirty="0"/>
                  <a:t>Current Gain: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Power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Gain</m:t>
                    </m:r>
                    <m:r>
                      <m:rPr>
                        <m:nor/>
                      </m:rPr>
                      <a:rPr lang="en-US"/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Amplifier Characteristics</a:t>
                </a:r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dirty="0"/>
                  <a:t>Linearity: The output is directly proportional to the input within a specified range.</a:t>
                </a:r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dirty="0"/>
                  <a:t>Bandwidth: The range of frequencies over which the amplifier maintains a consistent gain.</a:t>
                </a:r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dirty="0"/>
                  <a:t>Efficiency: The ratio of output power to total power consumed.</a:t>
                </a:r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dirty="0"/>
                  <a:t>Impedance Matching:</a:t>
                </a:r>
              </a:p>
              <a:p>
                <a:pPr lvl="1">
                  <a:buFont typeface="Wingdings" panose="05000000000000000000" pitchFamily="2" charset="2"/>
                  <a:buChar char="ü"/>
                </a:pPr>
                <a:r>
                  <a:rPr lang="en-US" dirty="0"/>
                  <a:t>Input Impedance (Rin): Should be high to prevent loading the source.</a:t>
                </a:r>
              </a:p>
              <a:p>
                <a:pPr lvl="1">
                  <a:buFont typeface="Wingdings" panose="05000000000000000000" pitchFamily="2" charset="2"/>
                  <a:buChar char="ü"/>
                </a:pPr>
                <a:r>
                  <a:rPr lang="en-US" dirty="0"/>
                  <a:t>Output Impedance (Rout): Should be low to drive loads effectively</a:t>
                </a:r>
              </a:p>
              <a:p>
                <a:pPr>
                  <a:buFont typeface="Wingdings" panose="05000000000000000000" pitchFamily="2" charset="2"/>
                  <a:buChar char="ü"/>
                </a:pPr>
                <a:endParaRPr lang="en-US" dirty="0"/>
              </a:p>
              <a:p>
                <a:pPr>
                  <a:buFont typeface="Wingdings" panose="05000000000000000000" pitchFamily="2" charset="2"/>
                  <a:buChar char="ü"/>
                </a:pPr>
                <a:endParaRPr lang="en-US" dirty="0"/>
              </a:p>
              <a:p>
                <a:pPr>
                  <a:buFont typeface="Wingdings" panose="05000000000000000000" pitchFamily="2" charset="2"/>
                  <a:buChar char="ü"/>
                </a:pPr>
                <a:endParaRPr lang="en-US" dirty="0"/>
              </a:p>
              <a:p>
                <a:pPr>
                  <a:buFont typeface="Wingdings" panose="05000000000000000000" pitchFamily="2" charset="2"/>
                  <a:buChar char="ü"/>
                </a:pPr>
                <a:endParaRPr lang="en-US" dirty="0"/>
              </a:p>
              <a:p>
                <a:pPr>
                  <a:buFont typeface="Wingdings" panose="05000000000000000000" pitchFamily="2" charset="2"/>
                  <a:buChar char="ü"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2553ED9-AC97-40C1-BC32-B0A161BDF4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09074" y="986590"/>
                <a:ext cx="11309684" cy="5190373"/>
              </a:xfrm>
              <a:blipFill>
                <a:blip r:embed="rId2"/>
                <a:stretch>
                  <a:fillRect t="-4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1632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F4B94-0D6E-4E44-A2C8-FFF61D1AC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4769" y="502902"/>
            <a:ext cx="7174832" cy="178134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5A93E59-3A11-4BDF-AC92-ACA37782C1C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60947" y="1037306"/>
                <a:ext cx="5987716" cy="5139657"/>
              </a:xfrm>
            </p:spPr>
            <p:txBody>
              <a:bodyPr>
                <a:normAutofit fontScale="85000" lnSpcReduction="20000"/>
              </a:bodyPr>
              <a:lstStyle/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dirty="0"/>
                  <a:t>An amplifier introduces a time delay between input and output signals due to propagation through internal components.</a:t>
                </a:r>
              </a:p>
              <a:p>
                <a:pPr>
                  <a:buFont typeface="Wingdings" panose="05000000000000000000" pitchFamily="2" charset="2"/>
                  <a:buChar char="ü"/>
                </a:pPr>
                <a:endParaRPr lang="en-US" dirty="0"/>
              </a:p>
              <a:p>
                <a:pPr>
                  <a:buFont typeface="Wingdings" panose="05000000000000000000" pitchFamily="2" charset="2"/>
                  <a:buChar char="ü"/>
                </a:pPr>
                <a:endParaRPr lang="en-US" dirty="0"/>
              </a:p>
              <a:p>
                <a:pPr>
                  <a:buFont typeface="Wingdings" panose="05000000000000000000" pitchFamily="2" charset="2"/>
                  <a:buChar char="ü"/>
                </a:pPr>
                <a:endParaRPr lang="en-US" dirty="0"/>
              </a:p>
              <a:p>
                <a:pPr>
                  <a:buFont typeface="Wingdings" panose="05000000000000000000" pitchFamily="2" charset="2"/>
                  <a:buChar char="ü"/>
                </a:pPr>
                <a:endParaRPr lang="en-US" dirty="0"/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dirty="0"/>
                  <a:t>The relationship is given by: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𝐴𝑥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where 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is the gain,</a:t>
                </a:r>
              </a:p>
              <a:p>
                <a:pPr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 is the input signal,</a:t>
                </a:r>
              </a:p>
              <a:p>
                <a:pPr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 is the output signal,</a:t>
                </a:r>
              </a:p>
              <a:p>
                <a:pPr>
                  <a:buFont typeface="Wingdings" panose="05000000000000000000" pitchFamily="2" charset="2"/>
                  <a:buChar char="ü"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5A93E59-3A11-4BDF-AC92-ACA37782C1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60947" y="1037306"/>
                <a:ext cx="5987716" cy="5139657"/>
              </a:xfrm>
              <a:blipFill>
                <a:blip r:embed="rId2"/>
                <a:stretch>
                  <a:fillRect t="-474" b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3C1BD120-C030-4613-BF6F-3133C95498DE}"/>
                  </a:ext>
                </a:extLst>
              </p:cNvPr>
              <p:cNvSpPr>
                <a:spLocks noGrp="1"/>
              </p:cNvSpPr>
              <p:nvPr>
                <p:ph type="body" idx="2"/>
              </p:nvPr>
            </p:nvSpPr>
            <p:spPr>
              <a:xfrm>
                <a:off x="6348662" y="681038"/>
                <a:ext cx="5658853" cy="5495926"/>
              </a:xfrm>
            </p:spPr>
            <p:txBody>
              <a:bodyPr>
                <a:normAutofit fontScale="70000" lnSpcReduction="20000"/>
              </a:bodyPr>
              <a:lstStyle/>
              <a:p>
                <a:pPr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31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1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3100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sz="3100" dirty="0"/>
                  <a:t> is the time delay, </a:t>
                </a:r>
              </a:p>
              <a:p>
                <a:pPr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n-US" sz="31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</m:oMath>
                </a14:m>
                <a:r>
                  <a:rPr lang="en-US" sz="3100" dirty="0"/>
                  <a:t> is the output DC offset</a:t>
                </a:r>
              </a:p>
              <a:p>
                <a:pPr marL="114300" indent="0">
                  <a:buNone/>
                </a:pPr>
                <a:r>
                  <a:rPr lang="en-US" sz="3100" dirty="0"/>
                  <a:t>Saturation and Limitations</a:t>
                </a:r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sz="3100" dirty="0"/>
                  <a:t>Power Supply Limitation: The maximum output voltage is constrained by the power supply voltage.</a:t>
                </a:r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sz="3100" dirty="0"/>
                  <a:t>Saturation: The output cannot exceed the power supply range.</a:t>
                </a:r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sz="3100" dirty="0"/>
                  <a:t>Current Limitation: The output is limited if the power supply cannot provide sufficient current.</a:t>
                </a:r>
              </a:p>
              <a:p>
                <a:pPr marL="114300" indent="0">
                  <a:buNone/>
                </a:pPr>
                <a:r>
                  <a:rPr lang="en-US" sz="3100" dirty="0"/>
                  <a:t>An amplifier has an open-loop gain of 200,000 and an input voltage of 1mV. Calculate the output voltage if the amplifier operates within its linear range.</a:t>
                </a:r>
              </a:p>
              <a:p>
                <a:pPr marL="114300" indent="0">
                  <a:buNone/>
                </a:pPr>
                <a:r>
                  <a:rPr lang="en-US" sz="3100" dirty="0"/>
                  <a:t>Solution,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1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1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31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n-US" sz="31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1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3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sz="3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3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US" sz="3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=200,000×1</m:t>
                      </m:r>
                      <m:r>
                        <a:rPr lang="en-US" sz="3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𝑚𝑉</m:t>
                      </m:r>
                      <m:r>
                        <a:rPr lang="en-US" sz="3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=200</m:t>
                      </m:r>
                      <m:r>
                        <a:rPr lang="en-US" sz="3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3100" dirty="0"/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3C1BD120-C030-4613-BF6F-3133C95498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xfrm>
                <a:off x="6348662" y="681038"/>
                <a:ext cx="5658853" cy="5495926"/>
              </a:xfrm>
              <a:blipFill>
                <a:blip r:embed="rId3"/>
                <a:stretch>
                  <a:fillRect t="-111" r="-13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A9B3172A-55E1-4385-B4AC-D95C17D06B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4768" y="2387767"/>
            <a:ext cx="4094747" cy="1221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855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6ACFE4-E5E3-46BF-975C-9130196977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4745" y="132896"/>
            <a:ext cx="5181600" cy="4272850"/>
          </a:xfrm>
        </p:spPr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en-US" sz="3200" b="1" dirty="0"/>
              <a:t>Common OpAmps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3200" dirty="0"/>
              <a:t>µA741 (LM741, MC1741): Most commonly used general-purpose OpAmp.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3200" dirty="0"/>
              <a:t>OP-27, LF411: High-performance OpAmps.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3200" dirty="0"/>
              <a:t>LM324: Single-supply OpAmp.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240353-E937-4854-BDCE-0618762C71F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11191" y="942098"/>
            <a:ext cx="5378116" cy="4973804"/>
          </a:xfrm>
        </p:spPr>
        <p:txBody>
          <a:bodyPr/>
          <a:lstStyle/>
          <a:p>
            <a:pPr marL="114300" indent="0">
              <a:buNone/>
            </a:pPr>
            <a:r>
              <a:rPr lang="en-US" b="1" dirty="0"/>
              <a:t>Practical Considerations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Input and Output Impedance: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dirty="0"/>
              <a:t>High input impedance prevents loading effects.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800" dirty="0"/>
              <a:t>Low output impedance ensures strong signal delivery.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Noise and Distortion: Minimize external noise sources and maintain linear operation.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BEE564-CDC1-8BDA-C6B8-9D43F4BA87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693" y="4287390"/>
            <a:ext cx="3058392" cy="19263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020088E-01CE-C60A-4025-C19C729796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1085" y="3964564"/>
            <a:ext cx="2838450" cy="160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785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95A61-6895-47A0-92BC-3266B765C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776411" cy="66959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Modeling the OpAmp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186C12-AE08-4340-AB4F-EC96E8C818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034716"/>
            <a:ext cx="5562600" cy="5142247"/>
          </a:xfrm>
        </p:spPr>
        <p:txBody>
          <a:bodyPr/>
          <a:lstStyle/>
          <a:p>
            <a:pPr marL="114300" indent="0">
              <a:buNone/>
            </a:pPr>
            <a:r>
              <a:rPr lang="en-US" dirty="0"/>
              <a:t>Modeling an operational amplifier (OpAmp) involves understanding its terminal voltages, currents, and behavior under different configurations.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87D86C48-52A5-4313-8EED-792550077D8C}"/>
                  </a:ext>
                </a:extLst>
              </p:cNvPr>
              <p:cNvSpPr>
                <a:spLocks noGrp="1"/>
              </p:cNvSpPr>
              <p:nvPr>
                <p:ph type="body" idx="2"/>
              </p:nvPr>
            </p:nvSpPr>
            <p:spPr>
              <a:xfrm>
                <a:off x="6172200" y="1275347"/>
                <a:ext cx="5181600" cy="4901616"/>
              </a:xfrm>
            </p:spPr>
            <p:txBody>
              <a:bodyPr>
                <a:normAutofit lnSpcReduction="10000"/>
              </a:bodyPr>
              <a:lstStyle/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dirty="0"/>
                  <a:t>Non-inverting Input (V⁺): The voltage applied to the non-inverting terminal.</a:t>
                </a:r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dirty="0"/>
                  <a:t>Inverting Input (V⁻): The voltage applied to the inverting terminal.</a:t>
                </a:r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dirty="0"/>
                  <a:t>Output Voltage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 The resulting voltage at the output terminal.</a:t>
                </a:r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dirty="0"/>
                  <a:t>Power supply voltages: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𝑐𝑐</m:t>
                        </m:r>
                      </m:sub>
                    </m:sSub>
                  </m:oMath>
                </a14:m>
                <a:r>
                  <a:rPr lang="en-US" dirty="0"/>
                  <a:t> (positive rail)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𝑐𝑐</m:t>
                        </m:r>
                      </m:sub>
                    </m:sSub>
                  </m:oMath>
                </a14:m>
                <a:r>
                  <a:rPr lang="en-US" dirty="0"/>
                  <a:t> (negative rail)</a:t>
                </a:r>
              </a:p>
              <a:p>
                <a:pPr>
                  <a:buFont typeface="Wingdings" panose="05000000000000000000" pitchFamily="2" charset="2"/>
                  <a:buChar char="ü"/>
                </a:pPr>
                <a:endParaRPr lang="en-US" dirty="0"/>
              </a:p>
              <a:p>
                <a:pPr>
                  <a:buFont typeface="Wingdings" panose="05000000000000000000" pitchFamily="2" charset="2"/>
                  <a:buChar char="ü"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87D86C48-52A5-4313-8EED-792550077D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xfrm>
                <a:off x="6172200" y="1275347"/>
                <a:ext cx="5181600" cy="4901616"/>
              </a:xfrm>
              <a:blipFill>
                <a:blip r:embed="rId2"/>
                <a:stretch>
                  <a:fillRect t="-373" r="-4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431CFDC3-DE61-4508-92FA-305DE9FA9E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428999"/>
            <a:ext cx="5077326" cy="291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336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F5DE1-124E-44A9-8FFC-A68829419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295147" cy="597400"/>
          </a:xfrm>
        </p:spPr>
        <p:txBody>
          <a:bodyPr>
            <a:noAutofit/>
          </a:bodyPr>
          <a:lstStyle/>
          <a:p>
            <a:r>
              <a:rPr lang="en-US" sz="3200" b="1" dirty="0"/>
              <a:t>Voltage and Current Constraints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CAF7893-C63D-4D48-B6EE-C894CDA145C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232611" y="1203158"/>
                <a:ext cx="5787189" cy="4973805"/>
              </a:xfrm>
            </p:spPr>
            <p:txBody>
              <a:bodyPr>
                <a:normAutofit lnSpcReduction="10000"/>
              </a:bodyPr>
              <a:lstStyle/>
              <a:p>
                <a:pPr marL="114300" indent="0">
                  <a:buNone/>
                </a:pPr>
                <a:r>
                  <a:rPr lang="en-US" dirty="0"/>
                  <a:t>Voltage Constraints:</a:t>
                </a:r>
              </a:p>
              <a:p>
                <a:pPr marL="114300" indent="0">
                  <a:buNone/>
                </a:pPr>
                <a:r>
                  <a:rPr lang="en-US" dirty="0"/>
                  <a:t>The ideal OpAmp follows the equation: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where:</a:t>
                </a:r>
              </a:p>
              <a:p>
                <a:pPr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is the open-loop gain, which is ideally very large.</a:t>
                </a:r>
              </a:p>
              <a:p>
                <a:pPr marL="114300" indent="0">
                  <a:buNone/>
                </a:pPr>
                <a:r>
                  <a:rPr lang="en-US" dirty="0"/>
                  <a:t>The output voltage is limited by the power supply: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𝐶𝐶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𝐶𝐶</m:t>
                        </m:r>
                      </m:sub>
                    </m:sSub>
                  </m:oMath>
                </a14:m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reaches these limits, the OpAmp is said to be </a:t>
                </a:r>
                <a:r>
                  <a:rPr lang="en-US" b="1" dirty="0"/>
                  <a:t>saturated</a:t>
                </a:r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CAF7893-C63D-4D48-B6EE-C894CDA145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32611" y="1203158"/>
                <a:ext cx="5787189" cy="4973805"/>
              </a:xfrm>
              <a:blipFill>
                <a:blip r:embed="rId2"/>
                <a:stretch>
                  <a:fillRect l="-105" t="-368" r="-3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2390174B-7BDD-4226-B57C-19830E05ED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799" y="1203158"/>
            <a:ext cx="5939590" cy="4973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619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4D773A4-E461-44C5-BE21-DBCDE4132EB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0" y="1203158"/>
                <a:ext cx="5715000" cy="4973805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dirty="0"/>
                  <a:t>The Virtual Short Concept</a:t>
                </a:r>
              </a:p>
              <a:p>
                <a:pPr marL="114300" indent="0">
                  <a:buNone/>
                </a:pPr>
                <a:r>
                  <a:rPr lang="en-US" dirty="0"/>
                  <a:t>In the linear operating region, the OpAmp enforces: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Ideal OpAmp Assumptions	</a:t>
                </a:r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dirty="0"/>
                  <a:t>For analysis and circuit design, an ideal OpAmp is assumed to have:</a:t>
                </a:r>
              </a:p>
              <a:p>
                <a:pPr lvl="1">
                  <a:buFont typeface="Wingdings" panose="05000000000000000000" pitchFamily="2" charset="2"/>
                  <a:buChar char="ü"/>
                </a:pPr>
                <a:r>
                  <a:rPr lang="en-US" dirty="0"/>
                  <a:t>Infinite open-loop gain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US" dirty="0"/>
                  <a:t>)</a:t>
                </a:r>
              </a:p>
              <a:p>
                <a:pPr lvl="1">
                  <a:buFont typeface="Wingdings" panose="05000000000000000000" pitchFamily="2" charset="2"/>
                  <a:buChar char="ü"/>
                </a:pPr>
                <a:r>
                  <a:rPr lang="en-US" dirty="0"/>
                  <a:t>Infinite input resistance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US" dirty="0"/>
                  <a:t>)</a:t>
                </a:r>
              </a:p>
              <a:p>
                <a:pPr lvl="1">
                  <a:buFont typeface="Wingdings" panose="05000000000000000000" pitchFamily="2" charset="2"/>
                  <a:buChar char="ü"/>
                </a:pPr>
                <a:r>
                  <a:rPr lang="en-US" dirty="0"/>
                  <a:t>Zero output resistance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≈0</m:t>
                    </m:r>
                  </m:oMath>
                </a14:m>
                <a:r>
                  <a:rPr lang="en-US" dirty="0"/>
                  <a:t>)</a:t>
                </a:r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4D773A4-E461-44C5-BE21-DBCDE4132E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0" y="1203158"/>
                <a:ext cx="5715000" cy="4973805"/>
              </a:xfrm>
              <a:blipFill>
                <a:blip r:embed="rId2"/>
                <a:stretch>
                  <a:fillRect l="-213" r="-533" b="-3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A7DF51-8892-44A7-9FB5-F9939F9E683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715000" y="1203158"/>
            <a:ext cx="6172200" cy="4973805"/>
          </a:xfrm>
        </p:spPr>
        <p:txBody>
          <a:bodyPr>
            <a:normAutofit fontScale="92500" lnSpcReduction="10000"/>
          </a:bodyPr>
          <a:lstStyle/>
          <a:p>
            <a:pPr marL="114300" indent="0">
              <a:buNone/>
            </a:pPr>
            <a:r>
              <a:rPr lang="en-US" b="1" dirty="0"/>
              <a:t>KEY NOTE: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OpAmp behavior is characterized by terminal voltages and currents.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The output voltage is proportional to the input difference but limited by power rails.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Ideal OpAmps assume infinite gain, infinite input resistance, and zero output resistance.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Circuit theory concept.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The virtual short concept simplifies circuit analysis.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7523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8FAC7-6DDC-49A9-8BC8-AFFA709A7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758" y="323723"/>
            <a:ext cx="9966158" cy="714627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BASIC APPLICATIONS OF THE OPAMP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46860C-176E-4726-97AF-43E5E27CCE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540042"/>
            <a:ext cx="11353800" cy="4636921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Operational amplifiers (OpAmps) are widely used in various circuit configurations to perform fundamental signal processing functions such as amplification, summation, integration, and differentiation.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We will treat the following OpAmp application: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Inverting Amplifier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Summing Amplifier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Non-Inverting Amplifier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Difference Amplifier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Integrator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Differentiator </a:t>
            </a:r>
          </a:p>
        </p:txBody>
      </p:sp>
    </p:spTree>
    <p:extLst>
      <p:ext uri="{BB962C8B-B14F-4D97-AF65-F5344CB8AC3E}">
        <p14:creationId xmlns:p14="http://schemas.microsoft.com/office/powerpoint/2010/main" val="1380930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92E1A-646D-4009-B26A-570F0FA83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642" y="385011"/>
            <a:ext cx="9244263" cy="845300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/>
              <a:t>Inverting Amplifier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9129" y="1526872"/>
            <a:ext cx="5975321" cy="320649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376" y="1212301"/>
            <a:ext cx="5396753" cy="352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264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2DDF4CA-EE1B-AAA0-DBF5-CE72A30CE445}"/>
              </a:ext>
            </a:extLst>
          </p:cNvPr>
          <p:cNvSpPr txBox="1"/>
          <p:nvPr/>
        </p:nvSpPr>
        <p:spPr>
          <a:xfrm>
            <a:off x="675408" y="135082"/>
            <a:ext cx="35848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Bahnschrift Light" panose="020B0502040204020203" pitchFamily="34" charset="0"/>
              </a:rPr>
              <a:t>Question 1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AB1FE0-0A9C-6DD9-22FD-876DE7C49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689" y="966079"/>
            <a:ext cx="5404139" cy="3505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5594356-0EE2-A036-CC0C-2E1824343464}"/>
                  </a:ext>
                </a:extLst>
              </p:cNvPr>
              <p:cNvSpPr txBox="1"/>
              <p:nvPr/>
            </p:nvSpPr>
            <p:spPr>
              <a:xfrm>
                <a:off x="6619008" y="966079"/>
                <a:ext cx="5008419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/>
                  <a:t>Vin=2Vsin</a:t>
                </a:r>
                <a14:m>
                  <m:oMath xmlns:m="http://schemas.openxmlformats.org/officeDocument/2006/math">
                    <m:r>
                      <a:rPr lang="en-US" sz="20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𝟐𝟎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𝝅</m:t>
                    </m:r>
                  </m:oMath>
                </a14:m>
                <a:r>
                  <a:rPr lang="en-US" sz="2000" b="1" dirty="0"/>
                  <a:t>t</a:t>
                </a:r>
              </a:p>
              <a:p>
                <a:r>
                  <a:rPr lang="en-US" sz="2000" b="1" dirty="0"/>
                  <a:t>R1=800Ω</a:t>
                </a:r>
              </a:p>
              <a:p>
                <a:r>
                  <a:rPr lang="en-US" sz="2000" b="1" dirty="0"/>
                  <a:t>Rf=1200Ω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5594356-0EE2-A036-CC0C-2E18243434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9008" y="966079"/>
                <a:ext cx="5008419" cy="1015663"/>
              </a:xfrm>
              <a:prstGeom prst="rect">
                <a:avLst/>
              </a:prstGeom>
              <a:blipFill>
                <a:blip r:embed="rId3"/>
                <a:stretch>
                  <a:fillRect l="-1340" t="-2395" b="-101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21DBA3AC-85A6-F8A4-B3E5-F1286AB1F0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1785" y="2256906"/>
            <a:ext cx="5405532" cy="304537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F16DC6A-B11D-5FC2-B842-E96AAB99DD49}"/>
              </a:ext>
            </a:extLst>
          </p:cNvPr>
          <p:cNvSpPr txBox="1"/>
          <p:nvPr/>
        </p:nvSpPr>
        <p:spPr>
          <a:xfrm>
            <a:off x="6134099" y="2890647"/>
            <a:ext cx="419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0AD337-ED94-D722-101C-8BA657E8C9B4}"/>
              </a:ext>
            </a:extLst>
          </p:cNvPr>
          <p:cNvSpPr txBox="1"/>
          <p:nvPr/>
        </p:nvSpPr>
        <p:spPr>
          <a:xfrm>
            <a:off x="11035145" y="4145908"/>
            <a:ext cx="1870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D9AB1B-088C-B187-CBE7-9F7602DCC7F1}"/>
              </a:ext>
            </a:extLst>
          </p:cNvPr>
          <p:cNvSpPr txBox="1"/>
          <p:nvPr/>
        </p:nvSpPr>
        <p:spPr>
          <a:xfrm>
            <a:off x="1579418" y="4956464"/>
            <a:ext cx="19950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Vout=?</a:t>
            </a:r>
          </a:p>
        </p:txBody>
      </p:sp>
    </p:spTree>
    <p:extLst>
      <p:ext uri="{BB962C8B-B14F-4D97-AF65-F5344CB8AC3E}">
        <p14:creationId xmlns:p14="http://schemas.microsoft.com/office/powerpoint/2010/main" val="3188744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E3F68-4DAE-1C9E-B60E-34C5B8528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03D98A-2B9B-46B2-48E5-3F88A45AF19C}"/>
              </a:ext>
            </a:extLst>
          </p:cNvPr>
          <p:cNvSpPr txBox="1"/>
          <p:nvPr/>
        </p:nvSpPr>
        <p:spPr>
          <a:xfrm>
            <a:off x="675408" y="135082"/>
            <a:ext cx="35848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Bahnschrift Light" panose="020B0502040204020203" pitchFamily="34" charset="0"/>
              </a:rPr>
              <a:t>Question 2</a:t>
            </a:r>
          </a:p>
        </p:txBody>
      </p:sp>
      <p:sp>
        <p:nvSpPr>
          <p:cNvPr id="5" name="Rectangle 4"/>
          <p:cNvSpPr/>
          <p:nvPr/>
        </p:nvSpPr>
        <p:spPr>
          <a:xfrm>
            <a:off x="491706" y="879894"/>
            <a:ext cx="11410129" cy="9661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888521" y="966079"/>
            <a:ext cx="1010153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 the circuit shown below: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Determine 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gain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of the amplifier if Vi=2sin⁡</a:t>
            </a:r>
            <a:r>
              <a:rPr lang="el-GR" dirty="0">
                <a:latin typeface="Arial" panose="020B0604020202020204" pitchFamily="34" charset="0"/>
                <a:cs typeface="Arial" panose="020B0604020202020204" pitchFamily="34" charset="0"/>
              </a:rPr>
              <a:t>ω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 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V.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Find 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output voltage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Calculate 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input voltage amplitude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that will cause the amplifier to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saturate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152" y="1932238"/>
            <a:ext cx="8573696" cy="3925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018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07D1F-E6BB-4F2B-A034-EEC57F689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2636"/>
            <a:ext cx="7776411" cy="89614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Non-Inverting Amplifier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739" y="1058779"/>
            <a:ext cx="4858871" cy="30829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4860" y="828312"/>
            <a:ext cx="6694098" cy="4868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840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85EB8-24A5-4241-B263-9FA1917DD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137" y="0"/>
            <a:ext cx="7848600" cy="1006475"/>
          </a:xfrm>
        </p:spPr>
        <p:txBody>
          <a:bodyPr/>
          <a:lstStyle/>
          <a:p>
            <a:r>
              <a:rPr lang="en-US" b="1" dirty="0"/>
              <a:t>Question </a:t>
            </a:r>
            <a:r>
              <a:rPr lang="en-US" b="1" dirty="0" smtClean="0"/>
              <a:t>3 </a:t>
            </a:r>
            <a:r>
              <a:rPr lang="en-US" b="1" dirty="0"/>
              <a:t>and </a:t>
            </a:r>
            <a:r>
              <a:rPr lang="en-US" b="1" dirty="0" smtClean="0"/>
              <a:t>4</a:t>
            </a:r>
            <a:endParaRPr 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3F4CB22-8C2E-4F34-8AE0-3AF1488BBF0D}"/>
                  </a:ext>
                </a:extLst>
              </p:cNvPr>
              <p:cNvSpPr/>
              <p:nvPr/>
            </p:nvSpPr>
            <p:spPr>
              <a:xfrm>
                <a:off x="1613140" y="4398367"/>
                <a:ext cx="1492369" cy="42996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/>
                  <a:t>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3F4CB22-8C2E-4F34-8AE0-3AF1488BBF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3140" y="4398367"/>
                <a:ext cx="1492369" cy="429962"/>
              </a:xfrm>
              <a:prstGeom prst="rect">
                <a:avLst/>
              </a:prstGeom>
              <a:blipFill>
                <a:blip r:embed="rId2"/>
                <a:stretch>
                  <a:fillRect t="-2857" b="-228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990" y="1006475"/>
            <a:ext cx="5032039" cy="33918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107502" y="4691976"/>
            <a:ext cx="64956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a) If Rx=80k</a:t>
            </a:r>
            <a:r>
              <a:rPr lang="el-GR" sz="2400" dirty="0"/>
              <a:t>Ω</a:t>
            </a:r>
            <a:r>
              <a:rPr lang="en-US" sz="2400" dirty="0" smtClean="0"/>
              <a:t> what is Vo </a:t>
            </a:r>
          </a:p>
          <a:p>
            <a:r>
              <a:rPr lang="en-US" sz="2400" dirty="0" smtClean="0"/>
              <a:t>b) How large can Rx be to avoid saturation</a:t>
            </a:r>
            <a:endParaRPr lang="en-US" sz="24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7721" y="942346"/>
            <a:ext cx="5607169" cy="36641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458528" y="2501661"/>
            <a:ext cx="155275" cy="2180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8193241" y="2639682"/>
            <a:ext cx="217514" cy="1668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686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F9D1B-8DEE-4DDF-9DC5-69ACD4745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252" y="201862"/>
            <a:ext cx="9075821" cy="958349"/>
          </a:xfrm>
        </p:spPr>
        <p:txBody>
          <a:bodyPr/>
          <a:lstStyle/>
          <a:p>
            <a:r>
              <a:rPr lang="en-US" b="1" dirty="0"/>
              <a:t>Summing Amplifier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252" y="1470212"/>
            <a:ext cx="6138701" cy="419548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15953" y="1326776"/>
            <a:ext cx="510988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 very important application of the inverting configuration is the weighted-summer circuit shown in  the Fig. Here we have a resistance Rf in the negative-feedback path (as before), but we have a number of input signals v1, v2, …, vn each applied to a corresponding resistor R1, R2, …, Rn, which are connected to the inverting terminal of the op amp.</a:t>
            </a:r>
          </a:p>
        </p:txBody>
      </p:sp>
    </p:spTree>
    <p:extLst>
      <p:ext uri="{BB962C8B-B14F-4D97-AF65-F5344CB8AC3E}">
        <p14:creationId xmlns:p14="http://schemas.microsoft.com/office/powerpoint/2010/main" val="34595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41DC0-3073-4EA5-9EE2-69977BFD5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4769" y="0"/>
            <a:ext cx="7006389" cy="934286"/>
          </a:xfrm>
        </p:spPr>
        <p:txBody>
          <a:bodyPr/>
          <a:lstStyle/>
          <a:p>
            <a:r>
              <a:rPr lang="en-US" b="1" dirty="0"/>
              <a:t>Question </a:t>
            </a:r>
            <a:r>
              <a:rPr lang="en-US" b="1" dirty="0" smtClean="0"/>
              <a:t>5</a:t>
            </a:r>
            <a:endParaRPr 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054769" y="934286"/>
            <a:ext cx="84280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Two voltage signals, </a:t>
            </a:r>
            <a:r>
              <a:rPr lang="en-US" sz="1600" b="1" dirty="0"/>
              <a:t>Vi1= 2V </a:t>
            </a:r>
            <a:r>
              <a:rPr lang="en-US" sz="1600" dirty="0"/>
              <a:t>and </a:t>
            </a:r>
            <a:r>
              <a:rPr lang="en-US" sz="1600" b="1" dirty="0"/>
              <a:t>Vi2=1.5V</a:t>
            </a:r>
            <a:r>
              <a:rPr lang="en-US" sz="1600" dirty="0"/>
              <a:t> are added by the summing amplifier in the figure below.</a:t>
            </a:r>
          </a:p>
          <a:p>
            <a:r>
              <a:rPr lang="en-US" sz="1600" dirty="0"/>
              <a:t>Find the output voltage, </a:t>
            </a:r>
            <a:r>
              <a:rPr lang="en-US" sz="1600" b="1" dirty="0"/>
              <a:t>Vo</a:t>
            </a:r>
            <a:r>
              <a:rPr lang="en-US" sz="1600" dirty="0"/>
              <a:t>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557" y="1780089"/>
            <a:ext cx="9955014" cy="3953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393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75D45-1297-4E0A-8BEB-C1503F908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281737" cy="789907"/>
          </a:xfrm>
        </p:spPr>
        <p:txBody>
          <a:bodyPr/>
          <a:lstStyle/>
          <a:p>
            <a:pPr algn="ctr"/>
            <a:r>
              <a:rPr lang="en-US" b="1" dirty="0"/>
              <a:t>Difference Amplifier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432" y="1577788"/>
            <a:ext cx="5474368" cy="378310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723528" y="1882588"/>
            <a:ext cx="493058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A difference amplifier is one that responds only to the difference between the two signals applied at its input</a:t>
            </a:r>
          </a:p>
        </p:txBody>
      </p:sp>
    </p:spTree>
    <p:extLst>
      <p:ext uri="{BB962C8B-B14F-4D97-AF65-F5344CB8AC3E}">
        <p14:creationId xmlns:p14="http://schemas.microsoft.com/office/powerpoint/2010/main" val="1604431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6CEF3-2755-40DD-A124-E3AE32BB4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890" y="40273"/>
            <a:ext cx="10515600" cy="838033"/>
          </a:xfrm>
        </p:spPr>
        <p:txBody>
          <a:bodyPr/>
          <a:lstStyle/>
          <a:p>
            <a:r>
              <a:rPr lang="en-US" b="1" dirty="0"/>
              <a:t>Question </a:t>
            </a:r>
            <a:r>
              <a:rPr lang="en-US" b="1" dirty="0"/>
              <a:t>6</a:t>
            </a:r>
            <a:endParaRPr lang="en-US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A12098-F023-4334-9ED7-07E6218108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2505" y="986590"/>
            <a:ext cx="11999495" cy="5190374"/>
          </a:xfrm>
        </p:spPr>
        <p:txBody>
          <a:bodyPr/>
          <a:lstStyle/>
          <a:p>
            <a:r>
              <a:rPr lang="en-US" dirty="0"/>
              <a:t>.</a:t>
            </a:r>
          </a:p>
          <a:p>
            <a:pPr marL="11430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E76130-356C-4525-8D9F-AF46B96008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506" y="1203158"/>
            <a:ext cx="11806990" cy="4973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08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3392E-DE85-4852-A78E-B55438778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944853" cy="838033"/>
          </a:xfrm>
        </p:spPr>
        <p:txBody>
          <a:bodyPr/>
          <a:lstStyle/>
          <a:p>
            <a:r>
              <a:rPr lang="en-US" b="1" dirty="0"/>
              <a:t>Question </a:t>
            </a:r>
            <a:r>
              <a:rPr lang="en-US" b="1" dirty="0" smtClean="0"/>
              <a:t>7</a:t>
            </a:r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914" y="1203158"/>
            <a:ext cx="7720421" cy="4481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84875" y="1690777"/>
            <a:ext cx="14751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Find Vo</a:t>
            </a:r>
            <a:endParaRPr lang="en-US" b="1" dirty="0"/>
          </a:p>
        </p:txBody>
      </p:sp>
      <p:sp>
        <p:nvSpPr>
          <p:cNvPr id="6" name="Rectangle 5"/>
          <p:cNvSpPr/>
          <p:nvPr/>
        </p:nvSpPr>
        <p:spPr>
          <a:xfrm>
            <a:off x="3994030" y="3347049"/>
            <a:ext cx="86264" cy="457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82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434AC-5E8D-4A82-960E-D4BC9057C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4311316" cy="1006475"/>
          </a:xfrm>
        </p:spPr>
        <p:txBody>
          <a:bodyPr/>
          <a:lstStyle/>
          <a:p>
            <a:pPr algn="ctr"/>
            <a:r>
              <a:rPr lang="en-US" b="1" dirty="0"/>
              <a:t>Integrator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BE268F9-1AE5-4760-8580-5F948067A0B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168442" y="1006475"/>
                <a:ext cx="5851358" cy="5170488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sz="2400" dirty="0"/>
                  <a:t>Output Voltage Derivation</a:t>
                </a:r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sz="2400" dirty="0"/>
                  <a:t>Using KCL at node 1: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𝐶</m:t>
                      </m:r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000" dirty="0"/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sz="2000" dirty="0"/>
                  <a:t>Since,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000" dirty="0"/>
                  <a:t> simplifying: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𝐶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  <a:p>
                <a:pPr marL="114300" indent="0">
                  <a:buNone/>
                </a:pPr>
                <a:r>
                  <a:rPr lang="en-US" sz="2400" dirty="0"/>
                  <a:t>Solving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𝑅𝐶</m:t>
                          </m:r>
                        </m:den>
                      </m:f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sz="2400" dirty="0"/>
                  <a:t>This circuit is used in analog computing and signal processing.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BE268F9-1AE5-4760-8580-5F948067A0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68442" y="1006475"/>
                <a:ext cx="5851358" cy="517048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51437E82-EBFC-4B6B-9CEF-32C598C0C669}"/>
                  </a:ext>
                </a:extLst>
              </p:cNvPr>
              <p:cNvSpPr>
                <a:spLocks noGrp="1"/>
              </p:cNvSpPr>
              <p:nvPr>
                <p:ph type="body" idx="2"/>
              </p:nvPr>
            </p:nvSpPr>
            <p:spPr>
              <a:xfrm>
                <a:off x="6172202" y="1006476"/>
                <a:ext cx="5851356" cy="5170488"/>
              </a:xfrm>
            </p:spPr>
            <p:txBody>
              <a:bodyPr>
                <a:normAutofit/>
              </a:bodyPr>
              <a:lstStyle/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sz="2000" dirty="0"/>
                  <a:t>A resistor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/>
                  <a:t> is connected to the input.</a:t>
                </a:r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sz="2000" dirty="0"/>
                  <a:t>A capacitor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000" dirty="0"/>
                  <a:t> is placed in the feedback loop</a:t>
                </a:r>
              </a:p>
              <a:p>
                <a:pPr marL="114300" indent="0">
                  <a:buNone/>
                </a:pPr>
                <a:r>
                  <a:rPr lang="en-US" sz="2000" dirty="0"/>
                  <a:t>.</a:t>
                </a:r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51437E82-EBFC-4B6B-9CEF-32C598C0C6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xfrm>
                <a:off x="6172202" y="1006476"/>
                <a:ext cx="5851356" cy="5170488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826450F9-6CFC-426C-ACC1-76A61C573A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6296" y="2237874"/>
            <a:ext cx="5323168" cy="4235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798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A7C4A-4A37-4C7A-BCE0-BC2F3591B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6211"/>
            <a:ext cx="4215063" cy="1009651"/>
          </a:xfrm>
        </p:spPr>
        <p:txBody>
          <a:bodyPr/>
          <a:lstStyle/>
          <a:p>
            <a:r>
              <a:rPr lang="en-US" b="1" dirty="0"/>
              <a:t>Differentiator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EAB91F0-E580-42F8-9B6F-8052FAC6250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192505" y="914400"/>
                <a:ext cx="5827295" cy="5262563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sz="2000" dirty="0"/>
                  <a:t>Output Voltage Derivation</a:t>
                </a:r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sz="2000" dirty="0"/>
                  <a:t>Applying Kirchhoff’s Current Law (KCL) at the inverting terminal: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𝐶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000" dirty="0"/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sz="2000" dirty="0"/>
                  <a:t>Using the voltage constraint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000" b="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𝐶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200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000" dirty="0"/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sz="2000" dirty="0"/>
                  <a:t>e output voltage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b="0" dirty="0"/>
                  <a:t> </a:t>
                </a:r>
                <a:r>
                  <a:rPr lang="en-US" sz="2000" dirty="0"/>
                  <a:t>is therefore,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𝑅𝐶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sz="2000" b="0" dirty="0"/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sz="2000" dirty="0"/>
                  <a:t>This shows that the output is the derivative of the input.</a:t>
                </a:r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sz="2000" b="0" dirty="0"/>
                  <a:t>Application</a:t>
                </a:r>
                <a:r>
                  <a:rPr lang="en-US" sz="2000" dirty="0"/>
                  <a:t>s </a:t>
                </a:r>
              </a:p>
              <a:p>
                <a:pPr lvl="1">
                  <a:buFont typeface="Wingdings" panose="05000000000000000000" pitchFamily="2" charset="2"/>
                  <a:buChar char="ü"/>
                </a:pPr>
                <a:r>
                  <a:rPr lang="en-US" sz="1600" dirty="0"/>
                  <a:t>Edge detection in signal processing</a:t>
                </a:r>
              </a:p>
              <a:p>
                <a:pPr lvl="1">
                  <a:buFont typeface="Wingdings" panose="05000000000000000000" pitchFamily="2" charset="2"/>
                  <a:buChar char="ü"/>
                </a:pPr>
                <a:r>
                  <a:rPr lang="en-US" sz="1600" dirty="0"/>
                  <a:t>High-pass filtering in audio circuits.</a:t>
                </a:r>
                <a:endParaRPr lang="en-US" sz="1600" b="0" dirty="0"/>
              </a:p>
              <a:p>
                <a:pPr>
                  <a:buFont typeface="Wingdings" panose="05000000000000000000" pitchFamily="2" charset="2"/>
                  <a:buChar char="ü"/>
                </a:pPr>
                <a:endParaRPr lang="en-US" sz="2000" dirty="0"/>
              </a:p>
              <a:p>
                <a:pPr>
                  <a:buFont typeface="Wingdings" panose="05000000000000000000" pitchFamily="2" charset="2"/>
                  <a:buChar char="ü"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EAB91F0-E580-42F8-9B6F-8052FAC625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92505" y="914400"/>
                <a:ext cx="5827295" cy="5262563"/>
              </a:xfrm>
              <a:blipFill>
                <a:blip r:embed="rId2"/>
                <a:stretch>
                  <a:fillRect r="-1151" b="-1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46949009-5A27-493B-9028-A43809365FAF}"/>
                  </a:ext>
                </a:extLst>
              </p:cNvPr>
              <p:cNvSpPr>
                <a:spLocks noGrp="1"/>
              </p:cNvSpPr>
              <p:nvPr>
                <p:ph type="body" idx="2"/>
              </p:nvPr>
            </p:nvSpPr>
            <p:spPr>
              <a:xfrm>
                <a:off x="6172199" y="914400"/>
                <a:ext cx="5827295" cy="5262563"/>
              </a:xfrm>
            </p:spPr>
            <p:txBody>
              <a:bodyPr>
                <a:normAutofit/>
              </a:bodyPr>
              <a:lstStyle/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sz="2000" dirty="0"/>
                  <a:t>A capacitor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000" dirty="0"/>
                  <a:t> is connected to the input.</a:t>
                </a:r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sz="2000" dirty="0"/>
                  <a:t>A resistor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sz="2000" dirty="0"/>
                  <a:t> is placed in the feedback loop.</a:t>
                </a:r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sz="2000" dirty="0"/>
                  <a:t>The non-inverting terminal is grounded.</a:t>
                </a:r>
              </a:p>
              <a:p>
                <a:pPr>
                  <a:buFont typeface="Wingdings" panose="05000000000000000000" pitchFamily="2" charset="2"/>
                  <a:buChar char="ü"/>
                </a:pPr>
                <a:endParaRPr lang="en-US" sz="2000" dirty="0"/>
              </a:p>
              <a:p>
                <a:pPr>
                  <a:buFont typeface="Wingdings" panose="05000000000000000000" pitchFamily="2" charset="2"/>
                  <a:buChar char="ü"/>
                </a:pPr>
                <a:endParaRPr lang="en-US" sz="2000" dirty="0"/>
              </a:p>
              <a:p>
                <a:pPr>
                  <a:buFont typeface="Wingdings" panose="05000000000000000000" pitchFamily="2" charset="2"/>
                  <a:buChar char="ü"/>
                </a:pPr>
                <a:endParaRPr lang="en-US" sz="2000" dirty="0"/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46949009-5A27-493B-9028-A43809365F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xfrm>
                <a:off x="6172199" y="914400"/>
                <a:ext cx="5827295" cy="5262563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BCB0B704-3168-43D9-A5B7-413843851C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199" y="2526633"/>
            <a:ext cx="5827294" cy="387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735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C3386-5FC1-442C-A672-65FADADE5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326" y="124493"/>
            <a:ext cx="6862011" cy="958349"/>
          </a:xfrm>
        </p:spPr>
        <p:txBody>
          <a:bodyPr/>
          <a:lstStyle/>
          <a:p>
            <a:r>
              <a:rPr lang="en-US" b="1" dirty="0"/>
              <a:t>Differential Amplifiers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0F8EB2-4BAC-410E-9D57-D72DCF31AE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323474"/>
            <a:ext cx="6019800" cy="4853489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A Differential Amplifier is an essential circuit in analog electronics that amplifies the difference between two input signals while rejecting common-mode noise.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It forms the foundation of many advanced circuits, including instrumentation amplifiers.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E292E-74FB-43C6-9F79-6C0E1099045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702968" y="1082842"/>
            <a:ext cx="6232358" cy="5094121"/>
          </a:xfrm>
        </p:spPr>
        <p:txBody>
          <a:bodyPr/>
          <a:lstStyle/>
          <a:p>
            <a:pPr marL="114300" indent="0">
              <a:buNone/>
            </a:pPr>
            <a:r>
              <a:rPr lang="en-US" sz="2000" b="1" dirty="0"/>
              <a:t>Key Features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/>
              <a:t>Amplifies the difference between two input signals.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/>
              <a:t>Rejects common-mode signals (same signal on both inputs).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/>
              <a:t>Used in signal processing, sensor applications, and audio circuits</a:t>
            </a:r>
            <a:r>
              <a:rPr lang="en-US" dirty="0"/>
              <a:t>.</a:t>
            </a:r>
          </a:p>
          <a:p>
            <a:pPr marL="114300" indent="0">
              <a:buNone/>
            </a:pPr>
            <a:endParaRPr lang="en-US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52C6B4-42D1-46F3-845A-6294D7A65E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633538"/>
            <a:ext cx="5855370" cy="3099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904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65D68-2FF5-48C1-8C61-EF347B891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894" y="0"/>
            <a:ext cx="7415464" cy="1010653"/>
          </a:xfrm>
        </p:spPr>
        <p:txBody>
          <a:bodyPr/>
          <a:lstStyle/>
          <a:p>
            <a:r>
              <a:rPr lang="en-US" b="1" dirty="0"/>
              <a:t>Differential Amplifiers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1497209-7E72-4BB7-99A5-3557273D76D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12821" y="1275347"/>
                <a:ext cx="5706979" cy="4901616"/>
              </a:xfrm>
            </p:spPr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Working Principle</a:t>
                </a:r>
              </a:p>
              <a:p>
                <a:pPr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m:rPr>
                        <m:nor/>
                      </m:rPr>
                      <a:rPr lang="en-US"/>
                      <m:t>is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applied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to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the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non</m:t>
                    </m:r>
                    <m:r>
                      <m:rPr>
                        <m:nor/>
                      </m:rPr>
                      <a:rPr lang="en-US"/>
                      <m:t>−</m:t>
                    </m:r>
                    <m:r>
                      <m:rPr>
                        <m:nor/>
                      </m:rPr>
                      <a:rPr lang="en-US"/>
                      <m:t>inverting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terminal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via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m:rPr>
                        <m:nor/>
                      </m:rPr>
                      <a:rPr lang="en-US"/>
                      <m:t>is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applied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to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the</m:t>
                    </m:r>
                    <m:r>
                      <m:rPr>
                        <m:nor/>
                      </m:rPr>
                      <a:rPr lang="en-US" b="0" i="0" smtClean="0"/>
                      <m:t> </m:t>
                    </m:r>
                    <m:r>
                      <m:rPr>
                        <m:nor/>
                      </m:rPr>
                      <a:rPr lang="en-US"/>
                      <m:t>inverting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terminal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via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dirty="0"/>
                  <a:t>The feedback network maintains balance.</a:t>
                </a:r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dirty="0"/>
                  <a:t>The output is proportional to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1497209-7E72-4BB7-99A5-3557273D76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12821" y="1275347"/>
                <a:ext cx="5706979" cy="4901616"/>
              </a:xfrm>
              <a:blipFill>
                <a:blip r:embed="rId2"/>
                <a:stretch>
                  <a:fillRect l="-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62E83D79-81B2-4563-BB2E-3713CCB151FE}"/>
                  </a:ext>
                </a:extLst>
              </p:cNvPr>
              <p:cNvSpPr>
                <a:spLocks noGrp="1"/>
              </p:cNvSpPr>
              <p:nvPr>
                <p:ph type="body" idx="2"/>
              </p:nvPr>
            </p:nvSpPr>
            <p:spPr>
              <a:xfrm>
                <a:off x="6172201" y="1275347"/>
                <a:ext cx="5706977" cy="4946567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sz="2000" dirty="0"/>
                  <a:t>To analyze the circuit, we apply </a:t>
                </a:r>
                <a:r>
                  <a:rPr lang="en-US" sz="2000" b="1" dirty="0"/>
                  <a:t>Kirchhoff’s Laws</a:t>
                </a:r>
                <a:r>
                  <a:rPr lang="en-US" sz="2000" dirty="0"/>
                  <a:t> and </a:t>
                </a:r>
                <a:r>
                  <a:rPr lang="en-US" sz="2000" b="1" dirty="0"/>
                  <a:t>Voltage Division</a:t>
                </a:r>
                <a:r>
                  <a:rPr lang="en-US" sz="2000" dirty="0"/>
                  <a:t>.</a:t>
                </a:r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sz="2000" dirty="0"/>
                  <a:t>Voltage at Inverting Input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pPr marL="114300" indent="0">
                  <a:buNone/>
                </a:pPr>
                <a:r>
                  <a:rPr lang="en-US" sz="2000" dirty="0"/>
                  <a:t>Using the voltage divider rule: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000" dirty="0"/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sz="2000" dirty="0"/>
                  <a:t>Since the OpAmp operates in a closed-loop configuration, the virtual short principle applies, meaning the voltage at the non-inverting input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is equal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000" dirty="0"/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sz="2000" dirty="0"/>
                  <a:t>At node 1, 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000" dirty="0"/>
              </a:p>
              <a:p>
                <a:pPr marL="114300" indent="0">
                  <a:buNone/>
                </a:pPr>
                <a:endParaRPr lang="en-US" sz="2000" dirty="0"/>
              </a:p>
              <a:p>
                <a:pPr>
                  <a:buFont typeface="Wingdings" panose="05000000000000000000" pitchFamily="2" charset="2"/>
                  <a:buChar char="ü"/>
                </a:pPr>
                <a:endParaRPr lang="en-US" sz="2000" dirty="0"/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62E83D79-81B2-4563-BB2E-3713CCB151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xfrm>
                <a:off x="6172201" y="1275347"/>
                <a:ext cx="5706977" cy="4946567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4624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58BE9-5F01-4C65-BC60-ACFF63A23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113295" cy="1325563"/>
          </a:xfrm>
        </p:spPr>
        <p:txBody>
          <a:bodyPr/>
          <a:lstStyle/>
          <a:p>
            <a:pPr algn="ctr"/>
            <a:r>
              <a:rPr lang="en-US" b="1" dirty="0"/>
              <a:t>Differential Amplifiers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1E5F82A-57E8-4C69-B36A-6FE5E5A5BA0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168442" y="1825625"/>
                <a:ext cx="6641432" cy="4351338"/>
              </a:xfrm>
            </p:spPr>
            <p:txBody>
              <a:bodyPr>
                <a:normAutofit/>
              </a:bodyPr>
              <a:lstStyle/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dirty="0"/>
                  <a:t>Substituting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: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</m:sSub>
                            </m:den>
                          </m:f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</m:sSub>
                            </m:den>
                          </m:f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dirty="0"/>
                  <a:t>Solving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dirty="0"/>
                  <a:t>If the resistor pairs are equal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</m:sSub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lang="en-US" dirty="0"/>
                  <a:t>, the gain simplifies to:</a:t>
                </a:r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1E5F82A-57E8-4C69-B36A-6FE5E5A5BA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68442" y="1825625"/>
                <a:ext cx="6641432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F580F7D9-1132-4AFA-8EF5-5BC800BEEC82}"/>
                  </a:ext>
                </a:extLst>
              </p:cNvPr>
              <p:cNvSpPr>
                <a:spLocks noGrp="1"/>
              </p:cNvSpPr>
              <p:nvPr>
                <p:ph type="body" idx="2"/>
              </p:nvPr>
            </p:nvSpPr>
            <p:spPr>
              <a:xfrm>
                <a:off x="6809874" y="1825625"/>
                <a:ext cx="5213684" cy="4351338"/>
              </a:xfrm>
            </p:spPr>
            <p:txBody>
              <a:bodyPr/>
              <a:lstStyle/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dirty="0"/>
                  <a:t>This means the amplifier scales the voltage difference by a constant factor.</a:t>
                </a:r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F580F7D9-1132-4AFA-8EF5-5BC800BEEC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xfrm>
                <a:off x="6809874" y="1825625"/>
                <a:ext cx="5213684" cy="4351338"/>
              </a:xfrm>
              <a:blipFill>
                <a:blip r:embed="rId3"/>
                <a:stretch>
                  <a:fillRect r="-32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9423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9EA95-F14E-4543-AF52-593FA1FD6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487653" cy="934286"/>
          </a:xfrm>
        </p:spPr>
        <p:txBody>
          <a:bodyPr/>
          <a:lstStyle/>
          <a:p>
            <a:r>
              <a:rPr lang="en-US" b="1" dirty="0"/>
              <a:t>Differential Amplifiers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19F3D5F-EE0F-4AD9-B15F-115D4CB7E89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240632" y="1491916"/>
                <a:ext cx="6472988" cy="4685047"/>
              </a:xfrm>
            </p:spPr>
            <p:txBody>
              <a:bodyPr>
                <a:normAutofit fontScale="85000" lnSpcReduction="10000"/>
              </a:bodyPr>
              <a:lstStyle/>
              <a:p>
                <a:pPr marL="114300" indent="0">
                  <a:buNone/>
                </a:pPr>
                <a:r>
                  <a:rPr lang="en-US" sz="2400" dirty="0"/>
                  <a:t>One of the most important properties of a differential amplifier is its ability to reject common-mode noise.</a:t>
                </a:r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sz="2400" dirty="0"/>
                  <a:t>Common-Mode Gain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𝑐𝑚</m:t>
                        </m:r>
                      </m:sub>
                    </m:sSub>
                  </m:oMath>
                </a14:m>
                <a:r>
                  <a:rPr lang="en-US" sz="2400" dirty="0"/>
                  <a:t>)</a:t>
                </a:r>
              </a:p>
              <a:p>
                <a:pPr marL="114300" indent="0">
                  <a:buNone/>
                </a:pPr>
                <a:r>
                  <a:rPr lang="en-US" sz="2400" dirty="0"/>
                  <a:t>If both inputs have the same voltage: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𝑐𝑚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pPr marL="114300" indent="0">
                  <a:buNone/>
                </a:pPr>
                <a:r>
                  <a:rPr lang="en-US" sz="2400" dirty="0"/>
                  <a:t>Then the output should ideally be </a:t>
                </a:r>
                <a:r>
                  <a:rPr lang="en-US" sz="2400" b="1" dirty="0"/>
                  <a:t>zero</a:t>
                </a:r>
                <a:r>
                  <a:rPr lang="en-US" sz="2400" dirty="0"/>
                  <a:t>. However, due to imperfections: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𝑐𝑚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𝑐𝑚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sz="2400" dirty="0"/>
                  <a:t>CMRR Definition</a:t>
                </a:r>
              </a:p>
              <a:p>
                <a:pPr marL="114300" indent="0">
                  <a:buNone/>
                </a:pPr>
                <a:r>
                  <a:rPr lang="en-US" sz="2400" dirty="0"/>
                  <a:t>The Common-Mode Rejection Ratio (CMRR</a:t>
                </a:r>
                <a:r>
                  <a:rPr lang="en-US" sz="2400" b="1" dirty="0"/>
                  <a:t>)</a:t>
                </a:r>
                <a:r>
                  <a:rPr lang="en-US" sz="2400" dirty="0"/>
                  <a:t> is given by: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𝐶𝑀𝑅𝑅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=20</m:t>
                      </m:r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𝑐𝑚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sz="2400" dirty="0"/>
              </a:p>
              <a:p>
                <a:pPr marL="114300" indent="0">
                  <a:buNone/>
                </a:pPr>
                <a:r>
                  <a:rPr lang="en-US" sz="2400" dirty="0"/>
                  <a:t>A </a:t>
                </a:r>
                <a:r>
                  <a:rPr lang="en-US" sz="2400" b="1" dirty="0"/>
                  <a:t>higher CMRR</a:t>
                </a:r>
                <a:r>
                  <a:rPr lang="en-US" sz="2400" dirty="0"/>
                  <a:t> means </a:t>
                </a:r>
                <a:r>
                  <a:rPr lang="en-US" sz="2400" b="1" dirty="0"/>
                  <a:t>better noise rejection</a:t>
                </a:r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19F3D5F-EE0F-4AD9-B15F-115D4CB7E8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40632" y="1491916"/>
                <a:ext cx="6472988" cy="4685047"/>
              </a:xfrm>
              <a:blipFill>
                <a:blip r:embed="rId2"/>
                <a:stretch>
                  <a:fillRect b="-2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24381D-FBEB-43B9-A1A7-A968E6C9DD2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713620" y="1684421"/>
            <a:ext cx="5237748" cy="4492542"/>
          </a:xfrm>
        </p:spPr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Practical Applications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Differential amplifiers are widely used in: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Instrumentation Amplifiers: High-precision measurement circuits.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Audio Systems: Removing unwanted noise and interference.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Communication Systems: Signal processing in radio receivers.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Sensor Signal Conditioning: Extracting weak differential signals from sensors.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925520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B7264-B04C-43F0-AF57-3148B5E4F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477000" cy="62146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Question </a:t>
            </a:r>
            <a:r>
              <a:rPr lang="en-US" b="1" dirty="0" smtClean="0"/>
              <a:t>8 </a:t>
            </a:r>
            <a:endParaRPr lang="en-US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30661F-D542-4156-89A6-4F24F11C03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0632" y="1825625"/>
            <a:ext cx="5779168" cy="4351338"/>
          </a:xfrm>
        </p:spPr>
        <p:txBody>
          <a:bodyPr/>
          <a:lstStyle/>
          <a:p>
            <a:pPr marL="114300" indent="0">
              <a:buNone/>
            </a:pPr>
            <a:r>
              <a:rPr lang="en-US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02C694AB-9FD5-41A4-96E2-EA6D40A125FC}"/>
                  </a:ext>
                </a:extLst>
              </p:cNvPr>
              <p:cNvSpPr>
                <a:spLocks noGrp="1"/>
              </p:cNvSpPr>
              <p:nvPr>
                <p:ph type="body" idx="2"/>
              </p:nvPr>
            </p:nvSpPr>
            <p:spPr>
              <a:xfrm>
                <a:off x="6019800" y="1323474"/>
                <a:ext cx="5931568" cy="4853489"/>
              </a:xfrm>
            </p:spPr>
            <p:txBody>
              <a:bodyPr>
                <a:normAutofit lnSpcReduction="10000"/>
              </a:bodyPr>
              <a:lstStyle/>
              <a:p>
                <a:pPr marL="114300" indent="0">
                  <a:buNone/>
                </a:pPr>
                <a:r>
                  <a:rPr lang="en-US" dirty="0"/>
                  <a:t>The  difference amplifier of Figure 1.20 is constructed with an ideal OpAmp and 1% tolerance resistors of nominal values 2.2 k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dirty="0"/>
                  <a:t>and 5.1k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en-US" dirty="0"/>
                  <a:t>The resistors were measured and found to have the following resistance values: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dirty="0"/>
                  <a:t>=2.195 k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=5.145</m:t>
                    </m:r>
                    <m:r>
                      <m:rPr>
                        <m:nor/>
                      </m:rPr>
                      <a:rPr lang="en-US" dirty="0"/>
                      <m:t>k</m:t>
                    </m:r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=2.215</m:t>
                    </m:r>
                  </m:oMath>
                </a14:m>
                <a:r>
                  <a:rPr lang="en-US" dirty="0"/>
                  <a:t>k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.085</m:t>
                    </m:r>
                    <m:r>
                      <m:rPr>
                        <m:nor/>
                      </m:rPr>
                      <a:rPr lang="en-US" dirty="0"/>
                      <m:t>k</m:t>
                    </m:r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</m:oMath>
                </a14:m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Determine gain of the differential amplifier and its common-mode rejection ratio.</a:t>
                </a:r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02C694AB-9FD5-41A4-96E2-EA6D40A125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xfrm>
                <a:off x="6019800" y="1323474"/>
                <a:ext cx="5931568" cy="4853489"/>
              </a:xfrm>
              <a:blipFill>
                <a:blip r:embed="rId2"/>
                <a:stretch>
                  <a:fillRect l="-206" t="-377" r="-18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2708D09B-2CE5-48AE-B897-B3D0E24F7B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2" y="1167565"/>
            <a:ext cx="5931568" cy="485348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737702D-7BA7-495D-8484-31E3767A34EB}"/>
              </a:ext>
            </a:extLst>
          </p:cNvPr>
          <p:cNvSpPr/>
          <p:nvPr/>
        </p:nvSpPr>
        <p:spPr>
          <a:xfrm>
            <a:off x="240632" y="5555499"/>
            <a:ext cx="1876926" cy="6214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Figure 1.20</a:t>
            </a:r>
          </a:p>
        </p:txBody>
      </p:sp>
    </p:spTree>
    <p:extLst>
      <p:ext uri="{BB962C8B-B14F-4D97-AF65-F5344CB8AC3E}">
        <p14:creationId xmlns:p14="http://schemas.microsoft.com/office/powerpoint/2010/main" val="1207221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58BFE-65AC-4AB7-A389-EE514EEE9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194" y="163902"/>
            <a:ext cx="10203612" cy="1492370"/>
          </a:xfrm>
        </p:spPr>
        <p:txBody>
          <a:bodyPr>
            <a:normAutofit/>
          </a:bodyPr>
          <a:lstStyle/>
          <a:p>
            <a:r>
              <a:rPr lang="en-US" sz="3600" b="1" dirty="0"/>
              <a:t>NON-IDEAL CHARACTERISTICS OF OPAMPS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676FB7-3325-415B-B31B-8310FF7552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OpAmps exhibit </a:t>
            </a:r>
            <a:r>
              <a:rPr lang="en-US" b="1" dirty="0"/>
              <a:t>non-ideal characteristics</a:t>
            </a:r>
            <a:r>
              <a:rPr lang="en-US" dirty="0"/>
              <a:t> that can significantly impact circuit performance.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Why Study Non-Ideal Characteristics?</a:t>
            </a:r>
          </a:p>
          <a:p>
            <a:pPr marL="114300" indent="0">
              <a:buNone/>
            </a:pPr>
            <a:r>
              <a:rPr lang="en-US" dirty="0"/>
              <a:t>Understanding OpAmp imperfections helps engineers: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Design accurate and stable circuits.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Minimize errors due to input offsets and bias currents.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Optimize performance for speed and frequency response.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Reduce noise and unwanted interferences.</a:t>
            </a:r>
          </a:p>
        </p:txBody>
      </p:sp>
    </p:spTree>
    <p:extLst>
      <p:ext uri="{BB962C8B-B14F-4D97-AF65-F5344CB8AC3E}">
        <p14:creationId xmlns:p14="http://schemas.microsoft.com/office/powerpoint/2010/main" val="2816489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C1D08-3EC9-46BF-9D7B-80E726862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05" y="385012"/>
            <a:ext cx="11161295" cy="1010652"/>
          </a:xfrm>
        </p:spPr>
        <p:txBody>
          <a:bodyPr/>
          <a:lstStyle/>
          <a:p>
            <a:pPr algn="ctr"/>
            <a:r>
              <a:rPr lang="en-US" b="1" dirty="0"/>
              <a:t>Non-Ideal Characteristics of OpAmps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4A95AC6-7A14-49EB-9E1B-20B985EA928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192505" y="1690688"/>
                <a:ext cx="5827295" cy="4486275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dirty="0"/>
                  <a:t>In an ideal OpAmp, we assume:</a:t>
                </a:r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dirty="0"/>
                  <a:t>Infinite voltage gain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endParaRPr lang="en-US" b="0" dirty="0"/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dirty="0"/>
                  <a:t>Infinite input resistance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e>
                    </m:d>
                  </m:oMath>
                </a14:m>
                <a:endParaRPr lang="en-US" b="0" dirty="0"/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dirty="0"/>
                  <a:t>Zero output resistance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dirty="0"/>
                  <a:t>No offset voltage or input bias currents</a:t>
                </a:r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dirty="0"/>
                  <a:t>Independent of frequency response and power supply variations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4A95AC6-7A14-49EB-9E1B-20B985EA92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92505" y="1690688"/>
                <a:ext cx="5827295" cy="4486275"/>
              </a:xfrm>
              <a:blipFill>
                <a:blip r:embed="rId2"/>
                <a:stretch>
                  <a:fillRect l="-2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6893E2-451E-485D-A860-98C2096454E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172200" y="1395663"/>
            <a:ext cx="5827294" cy="4781300"/>
          </a:xfrm>
        </p:spPr>
        <p:txBody>
          <a:bodyPr>
            <a:normAutofit fontScale="92500" lnSpcReduction="10000"/>
          </a:bodyPr>
          <a:lstStyle/>
          <a:p>
            <a:pPr marL="114300" indent="0">
              <a:buNone/>
            </a:pPr>
            <a:r>
              <a:rPr lang="en-US" dirty="0"/>
              <a:t>However, real-world OpAmps exhibit non-ideal characteristics, which impact circuit performance. These include: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Finite Gain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Finite Input Resistance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Non-Zero Output Resistance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Input Offset Voltage &amp; Bias Current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Limited Frequency Response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Slew Rate Limitations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Power Supply Limitations</a:t>
            </a:r>
          </a:p>
        </p:txBody>
      </p:sp>
    </p:spTree>
    <p:extLst>
      <p:ext uri="{BB962C8B-B14F-4D97-AF65-F5344CB8AC3E}">
        <p14:creationId xmlns:p14="http://schemas.microsoft.com/office/powerpoint/2010/main" val="1044618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4C85D-EFB8-4E63-929B-298349ED5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8"/>
            <a:ext cx="10515600" cy="76275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Finite Gain, Finite Input Resistance, and Non-Zero Output Resistance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B9817A0-5925-4B37-AE5A-99110B1E009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168442" y="1636295"/>
                <a:ext cx="6448926" cy="4540668"/>
              </a:xfrm>
            </p:spPr>
            <p:txBody>
              <a:bodyPr>
                <a:normAutofit fontScale="92500" lnSpcReduction="10000"/>
              </a:bodyPr>
              <a:lstStyle/>
              <a:p>
                <a:pPr marL="114300" indent="0">
                  <a:buNone/>
                </a:pPr>
                <a:r>
                  <a:rPr lang="en-US" sz="2400" dirty="0"/>
                  <a:t>This section analyzes how real OpAmps deviate from ideal models, particularly in closed-loop configurations like the inverting amplifier.</a:t>
                </a:r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sz="2400" dirty="0"/>
                  <a:t>We apply KCL at the inverting input node: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b="0" dirty="0"/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sz="2400" dirty="0"/>
                  <a:t>Since </a:t>
                </a:r>
                <a:r>
                  <a:rPr lang="en-US" sz="2400" b="1" dirty="0"/>
                  <a:t>virtual short</a:t>
                </a:r>
                <a:r>
                  <a:rPr lang="en-US" sz="2400" dirty="0"/>
                  <a:t> is not exact in a non-ideal OpAmp, we define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​ in terms of </a:t>
                </a:r>
                <a:r>
                  <a:rPr lang="en-US" sz="2400" b="1" dirty="0"/>
                  <a:t>open-loop gain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sz="240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b="0" dirty="0"/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sz="2400" dirty="0"/>
                  <a:t>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/>
                  <a:t>  (grounded non-inverting terminal),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  <a:p>
                <a:pPr marL="11430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B9817A0-5925-4B37-AE5A-99110B1E00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68442" y="1636295"/>
                <a:ext cx="6448926" cy="454066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F76006E0-6DAB-41B8-A218-04372F966C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7368" y="2824162"/>
            <a:ext cx="5406190" cy="335280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140800-6DA4-4299-999E-9B403D32FCF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617368" y="1636295"/>
            <a:ext cx="5406190" cy="4540668"/>
          </a:xfrm>
        </p:spPr>
        <p:txBody>
          <a:bodyPr/>
          <a:lstStyle/>
          <a:p>
            <a:pPr marL="114300" indent="0">
              <a:buNone/>
            </a:pP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57112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9E3E3-8671-44FB-806D-3DA897113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5460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Finite Gain, Finite Input Resistance, and Non-Zero Output Resistance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56CB83E-25DF-4EC7-80DA-55080922A11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192505" y="1825625"/>
                <a:ext cx="5903495" cy="4351338"/>
              </a:xfrm>
            </p:spPr>
            <p:txBody>
              <a:bodyPr>
                <a:normAutofit fontScale="92500"/>
              </a:bodyPr>
              <a:lstStyle/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sz="2400" dirty="0"/>
                  <a:t>Substituting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​​ into KCL Equation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−(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den>
                          </m:f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den>
                          </m:f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den>
                          </m:f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sz="2400" dirty="0"/>
                  <a:t>Multiplying by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 to clear fractions: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𝐴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den>
                      </m:f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𝐴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den>
                      </m:f>
                      <m:r>
                        <a:rPr lang="en-US" sz="240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  <a:p>
                <a:pPr marL="114300" indent="0">
                  <a:buNone/>
                </a:pPr>
                <a:endParaRPr lang="en-US" sz="2400" dirty="0"/>
              </a:p>
              <a:p>
                <a:pPr marL="114300" indent="0">
                  <a:buNone/>
                </a:pPr>
                <a:endParaRPr lang="en-US" sz="2400" dirty="0"/>
              </a:p>
              <a:p>
                <a:pPr marL="114300" indent="0">
                  <a:buNone/>
                </a:pPr>
                <a:endParaRPr lang="en-US" sz="2400" dirty="0"/>
              </a:p>
              <a:p>
                <a:pPr marL="114300" indent="0">
                  <a:buNone/>
                </a:pPr>
                <a:endParaRPr lang="en-US" sz="240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56CB83E-25DF-4EC7-80DA-55080922A1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92505" y="1825625"/>
                <a:ext cx="5903495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CBEA3EA8-C8C2-4E1F-B411-53FEF2658137}"/>
                  </a:ext>
                </a:extLst>
              </p:cNvPr>
              <p:cNvSpPr>
                <a:spLocks noGrp="1"/>
              </p:cNvSpPr>
              <p:nvPr>
                <p:ph type="body" idx="2"/>
              </p:nvPr>
            </p:nvSpPr>
            <p:spPr>
              <a:xfrm>
                <a:off x="5895475" y="1690688"/>
                <a:ext cx="6104020" cy="4486275"/>
              </a:xfrm>
            </p:spPr>
            <p:txBody>
              <a:bodyPr>
                <a:normAutofit/>
              </a:bodyPr>
              <a:lstStyle/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dirty="0"/>
                  <a:t>Solving for gain: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</m:den>
                          </m:f>
                          <m:r>
                            <a:rPr lang="en-US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𝐴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den>
                      </m:f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</m:den>
                          </m:f>
                          <m:r>
                            <a:rPr lang="en-US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den>
                      </m:f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den>
                          </m:f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CBEA3EA8-C8C2-4E1F-B411-53FEF26581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xfrm>
                <a:off x="5895475" y="1690688"/>
                <a:ext cx="6104020" cy="4486275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6384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5E4EC-D4AD-41A1-B968-A30D84C73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632" y="681037"/>
            <a:ext cx="11113168" cy="1009651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Finite Gain, Finite Input Resistance, and Non-Zero Output Resistance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718EC11-B2DC-474D-A693-BC02856CF44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120316" y="1690688"/>
                <a:ext cx="11831052" cy="4486275"/>
              </a:xfrm>
            </p:spPr>
            <p:txBody>
              <a:bodyPr>
                <a:normAutofit/>
              </a:bodyPr>
              <a:lstStyle/>
              <a:p>
                <a:pPr marL="114300" indent="0" algn="ctr">
                  <a:buNone/>
                </a:pPr>
                <a:r>
                  <a:rPr lang="en-US" sz="3200" dirty="0"/>
                  <a:t>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sz="3200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den>
                    </m:f>
                    <m:r>
                      <a:rPr 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den>
                        </m:f>
                        <m:d>
                          <m:d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den>
                    </m:f>
                  </m:oMath>
                </a14:m>
                <a:endParaRPr lang="en-US" sz="3200" dirty="0"/>
              </a:p>
              <a:p>
                <a:pPr marL="11430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sz="3200" b="0" i="0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32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2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32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den>
                          </m:f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3200" dirty="0"/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sz="3200" dirty="0"/>
                  <a:t>This shows that finite gain reduces the actual closed-loop gain compared to the ideal case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den>
                      </m:f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3200" dirty="0"/>
              </a:p>
              <a:p>
                <a:pPr marL="114300" indent="0" algn="ctr">
                  <a:buNone/>
                </a:pPr>
                <a:endParaRPr lang="en-US" sz="3200" dirty="0"/>
              </a:p>
              <a:p>
                <a:pPr marL="114300" indent="0" algn="ctr">
                  <a:buNone/>
                </a:pPr>
                <a:endParaRPr lang="en-US" sz="320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718EC11-B2DC-474D-A693-BC02856CF4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0316" y="1690688"/>
                <a:ext cx="11831052" cy="4486275"/>
              </a:xfrm>
              <a:blipFill>
                <a:blip r:embed="rId2"/>
                <a:stretch>
                  <a:fillRect r="-20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5558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89586-0D5C-4182-BC39-B7D3CDBD4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353800" cy="1332412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Finite Gain, Finite Input Resistance, and Non-Zero Output Resistance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7EBF175-43B5-4013-B156-7525408F0F1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182880" y="1332412"/>
                <a:ext cx="6740434" cy="4709614"/>
              </a:xfrm>
            </p:spPr>
            <p:txBody>
              <a:bodyPr>
                <a:noAutofit/>
              </a:bodyPr>
              <a:lstStyle/>
              <a:p>
                <a:pPr marL="114300" indent="0">
                  <a:buNone/>
                </a:pPr>
                <a:r>
                  <a:rPr lang="en-US" sz="2400" dirty="0"/>
                  <a:t>A real OpAmp has a small but nonzero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/>
                  <a:t>which affects output voltage when a load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sz="2400" dirty="0"/>
                  <a:t>​ is connected.</a:t>
                </a:r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sz="2400" dirty="0"/>
                  <a:t>Applying </a:t>
                </a:r>
                <a:r>
                  <a:rPr lang="en-US" sz="2400" b="1" dirty="0"/>
                  <a:t>voltage division</a:t>
                </a:r>
                <a:r>
                  <a:rPr lang="en-US" sz="2400" dirty="0"/>
                  <a:t> at the output: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/>
              </a:p>
              <a:p>
                <a:pPr marL="114300" indent="0">
                  <a:buNone/>
                </a:pPr>
                <a:r>
                  <a:rPr lang="en-US" sz="2400" dirty="0"/>
                  <a:t>Thus, the final closed-loop gain including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/>
                  <a:t> is: </a:t>
                </a:r>
              </a:p>
              <a:p>
                <a:pPr marL="11430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(1+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den>
                        </m:f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den>
                    </m:f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endParaRPr lang="en-US" sz="2400" dirty="0"/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sz="2400" dirty="0"/>
                  <a:t>This equation shows how finite gain, finite input resistance, and nonzero output resistance collectively degrade the gain.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7EBF175-43B5-4013-B156-7525408F0F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82880" y="1332412"/>
                <a:ext cx="6740434" cy="4709614"/>
              </a:xfrm>
              <a:blipFill>
                <a:blip r:embed="rId2"/>
                <a:stretch>
                  <a:fillRect r="-2441" b="-50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BD97CC-0441-494D-BAFD-919E995D226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7106194" y="1467349"/>
            <a:ext cx="4902926" cy="4709614"/>
          </a:xfrm>
        </p:spPr>
        <p:txBody>
          <a:bodyPr/>
          <a:lstStyle/>
          <a:p>
            <a:pPr marL="114300" indent="0">
              <a:buNone/>
            </a:pPr>
            <a:r>
              <a:rPr lang="en-US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6B0743-03A4-4E5E-9F2F-A9926A590A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3314" y="1881050"/>
            <a:ext cx="5100244" cy="4295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892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8830" y="207033"/>
            <a:ext cx="8862204" cy="785005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EQUIVALENT CIRCUIT</a:t>
            </a:r>
            <a:endParaRPr lang="en-US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661" y="1768414"/>
            <a:ext cx="3942271" cy="316589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2279" y="1768414"/>
            <a:ext cx="5348378" cy="3165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078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84265-A4A3-4306-851A-B52AC5828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267138" cy="774127"/>
          </a:xfrm>
        </p:spPr>
        <p:txBody>
          <a:bodyPr/>
          <a:lstStyle/>
          <a:p>
            <a:r>
              <a:rPr lang="en-US" b="1" dirty="0" smtClean="0"/>
              <a:t>Question 9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51158" y="1302589"/>
            <a:ext cx="1003026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Given the following circuit parameters for an inverting amplifier, Rf=20k</a:t>
            </a:r>
            <a:r>
              <a:rPr lang="el-GR" sz="4000" dirty="0" smtClean="0"/>
              <a:t>Ω</a:t>
            </a:r>
            <a:r>
              <a:rPr lang="en-US" sz="4000" dirty="0" smtClean="0"/>
              <a:t>, </a:t>
            </a:r>
            <a:r>
              <a:rPr lang="en-US" sz="4000" dirty="0" err="1" smtClean="0"/>
              <a:t>Rs</a:t>
            </a:r>
            <a:r>
              <a:rPr lang="en-US" sz="4000" dirty="0" smtClean="0"/>
              <a:t>=10k</a:t>
            </a:r>
            <a:r>
              <a:rPr lang="el-GR" sz="4000" dirty="0" smtClean="0"/>
              <a:t>Ω</a:t>
            </a:r>
            <a:r>
              <a:rPr lang="en-US" sz="4000" dirty="0" smtClean="0"/>
              <a:t>, Vs=2V and non-ideal OpAmps parameters: A=200,000, Ri=2M</a:t>
            </a:r>
            <a:r>
              <a:rPr lang="el-GR" sz="4000" dirty="0" smtClean="0"/>
              <a:t>Ω</a:t>
            </a:r>
            <a:r>
              <a:rPr lang="en-US" sz="4000" dirty="0" smtClean="0"/>
              <a:t>, Ro=50</a:t>
            </a:r>
            <a:r>
              <a:rPr lang="el-GR" sz="4000" dirty="0" smtClean="0"/>
              <a:t>Ω</a:t>
            </a:r>
            <a:r>
              <a:rPr lang="en-US" sz="4000" dirty="0" smtClean="0"/>
              <a:t>. Draw the circuit and Determine the voltage gain of the amplifier and compare to the ideal gain. 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880555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02899" y="181154"/>
            <a:ext cx="9144000" cy="81852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CASCADED OP-AMPS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5699186" y="1395390"/>
            <a:ext cx="5748067" cy="4539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Multistage configuration of amplifiers interconnected in </a:t>
            </a:r>
            <a:r>
              <a:rPr lang="en-US" sz="1800" dirty="0" smtClean="0"/>
              <a:t>sequence</a:t>
            </a:r>
          </a:p>
          <a:p>
            <a:r>
              <a:rPr lang="en-US" sz="1800" b="1" dirty="0"/>
              <a:t>Cascaded amplifiers</a:t>
            </a:r>
            <a:r>
              <a:rPr lang="en-US" sz="1800" dirty="0"/>
              <a:t> are amplifier stages connected </a:t>
            </a:r>
            <a:r>
              <a:rPr lang="en-US" sz="1800" b="1" dirty="0"/>
              <a:t>one after another</a:t>
            </a:r>
            <a:r>
              <a:rPr lang="en-US" sz="1800" dirty="0"/>
              <a:t>, where the </a:t>
            </a:r>
            <a:r>
              <a:rPr lang="en-US" sz="1800" b="1" dirty="0"/>
              <a:t>output of one stage becomes the input of the next stage</a:t>
            </a:r>
            <a:r>
              <a:rPr lang="en-US" sz="1800" dirty="0"/>
              <a:t>.</a:t>
            </a:r>
          </a:p>
          <a:p>
            <a:r>
              <a:rPr lang="en-US" sz="1800" dirty="0"/>
              <a:t>They are used when:</a:t>
            </a:r>
          </a:p>
          <a:p>
            <a:r>
              <a:rPr lang="en-US" sz="1800" dirty="0"/>
              <a:t>A </a:t>
            </a:r>
            <a:r>
              <a:rPr lang="en-US" sz="1800" b="1" dirty="0"/>
              <a:t>single amplifier cannot provide enough gain</a:t>
            </a:r>
            <a:endParaRPr lang="en-US" sz="1800" dirty="0"/>
          </a:p>
          <a:p>
            <a:r>
              <a:rPr lang="en-US" sz="1800" dirty="0"/>
              <a:t>Different stages are needed for </a:t>
            </a:r>
            <a:r>
              <a:rPr lang="en-US" sz="1800" b="1" dirty="0"/>
              <a:t>voltage gain, current gain, or impedance matching</a:t>
            </a:r>
            <a:endParaRPr lang="en-US" sz="1800" dirty="0"/>
          </a:p>
          <a:p>
            <a:r>
              <a:rPr lang="en-US" sz="1800" dirty="0"/>
              <a:t>Better control over </a:t>
            </a:r>
            <a:r>
              <a:rPr lang="en-US" sz="1800" b="1" dirty="0"/>
              <a:t>frequency response and stability</a:t>
            </a:r>
            <a:r>
              <a:rPr lang="en-US" sz="1800" dirty="0"/>
              <a:t> is required</a:t>
            </a:r>
          </a:p>
          <a:p>
            <a:r>
              <a:rPr lang="en-US" sz="1800" dirty="0"/>
              <a:t>For proper cascading:</a:t>
            </a:r>
          </a:p>
          <a:p>
            <a:r>
              <a:rPr lang="en-US" sz="1800" b="1" dirty="0"/>
              <a:t>Output impedance of first stage</a:t>
            </a:r>
            <a:r>
              <a:rPr lang="en-US" sz="1800" dirty="0"/>
              <a:t> should be </a:t>
            </a:r>
            <a:r>
              <a:rPr lang="en-US" sz="1800" b="1" dirty="0"/>
              <a:t>low</a:t>
            </a:r>
            <a:endParaRPr lang="en-US" sz="1800" dirty="0"/>
          </a:p>
          <a:p>
            <a:r>
              <a:rPr lang="en-US" sz="1800" b="1" dirty="0"/>
              <a:t>Input impedance of next stage</a:t>
            </a:r>
            <a:r>
              <a:rPr lang="en-US" sz="1800" dirty="0"/>
              <a:t> should be </a:t>
            </a:r>
            <a:r>
              <a:rPr lang="en-US" sz="1800" b="1" dirty="0"/>
              <a:t>high</a:t>
            </a:r>
            <a:endParaRPr lang="en-US" sz="1800" dirty="0"/>
          </a:p>
          <a:p>
            <a:r>
              <a:rPr lang="en-US" sz="1800" dirty="0"/>
              <a:t>This prevents signal loss due to loading effect.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597" y="1525089"/>
            <a:ext cx="4991809" cy="284914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26543" y="3416060"/>
            <a:ext cx="1311215" cy="8453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501660" y="1664898"/>
            <a:ext cx="1043797" cy="5003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040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84265-A4A3-4306-851A-B52AC5828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267138" cy="774127"/>
          </a:xfrm>
        </p:spPr>
        <p:txBody>
          <a:bodyPr/>
          <a:lstStyle/>
          <a:p>
            <a:r>
              <a:rPr lang="en-US" b="1" dirty="0" smtClean="0"/>
              <a:t>Question 10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597" y="1139252"/>
            <a:ext cx="7065034" cy="482032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656271" y="4364966"/>
            <a:ext cx="258793" cy="1725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8566031" y="2380891"/>
            <a:ext cx="21479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LcParenR"/>
            </a:pPr>
            <a:r>
              <a:rPr lang="en-US" sz="1800" b="1" dirty="0" smtClean="0"/>
              <a:t>Find Vo</a:t>
            </a:r>
          </a:p>
          <a:p>
            <a:pPr marL="342900" indent="-342900">
              <a:buAutoNum type="alphaLcParenR"/>
            </a:pPr>
            <a:r>
              <a:rPr lang="en-US" sz="1800" b="1" dirty="0" smtClean="0"/>
              <a:t>Design Vo=3V2-5V1</a:t>
            </a:r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1686942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6592</TotalTime>
  <Words>1238</Words>
  <Application>Microsoft Office PowerPoint</Application>
  <PresentationFormat>Widescreen</PresentationFormat>
  <Paragraphs>314</Paragraphs>
  <Slides>39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Montserrat</vt:lpstr>
      <vt:lpstr>Cambria Math</vt:lpstr>
      <vt:lpstr>Arial</vt:lpstr>
      <vt:lpstr>Wingdings</vt:lpstr>
      <vt:lpstr>Calibri</vt:lpstr>
      <vt:lpstr>Bahnschrift Light</vt:lpstr>
      <vt:lpstr>Office Theme</vt:lpstr>
      <vt:lpstr>PowerPoint Presentation</vt:lpstr>
      <vt:lpstr>Outline </vt:lpstr>
      <vt:lpstr>Introduction to Operational Amplifiers </vt:lpstr>
      <vt:lpstr> Applications And Concept of Opamps </vt:lpstr>
      <vt:lpstr>Basic Amplifier Characteristics </vt:lpstr>
      <vt:lpstr>Basic Amplifier Characteristics</vt:lpstr>
      <vt:lpstr> </vt:lpstr>
      <vt:lpstr>PowerPoint Presentation</vt:lpstr>
      <vt:lpstr>Modeling the OpAmp </vt:lpstr>
      <vt:lpstr>Voltage and Current Constraints</vt:lpstr>
      <vt:lpstr>PowerPoint Presentation</vt:lpstr>
      <vt:lpstr>BASIC APPLICATIONS OF THE OPAMP</vt:lpstr>
      <vt:lpstr>Inverting Amplifier</vt:lpstr>
      <vt:lpstr>PowerPoint Presentation</vt:lpstr>
      <vt:lpstr>PowerPoint Presentation</vt:lpstr>
      <vt:lpstr>Non-Inverting Amplifier</vt:lpstr>
      <vt:lpstr>Question 3 and 4</vt:lpstr>
      <vt:lpstr>Summing Amplifier</vt:lpstr>
      <vt:lpstr>Question 5</vt:lpstr>
      <vt:lpstr>Difference Amplifier</vt:lpstr>
      <vt:lpstr>Question 6</vt:lpstr>
      <vt:lpstr>Question 7</vt:lpstr>
      <vt:lpstr>Integrator</vt:lpstr>
      <vt:lpstr>Differentiator</vt:lpstr>
      <vt:lpstr>Differential Amplifiers</vt:lpstr>
      <vt:lpstr>Differential Amplifiers</vt:lpstr>
      <vt:lpstr>Differential Amplifiers</vt:lpstr>
      <vt:lpstr>Differential Amplifiers</vt:lpstr>
      <vt:lpstr>Question 8 </vt:lpstr>
      <vt:lpstr>NON-IDEAL CHARACTERISTICS OF OPAMPS</vt:lpstr>
      <vt:lpstr>Non-Ideal Characteristics of OpAmps</vt:lpstr>
      <vt:lpstr>Finite Gain, Finite Input Resistance, and Non-Zero Output Resistance</vt:lpstr>
      <vt:lpstr>Finite Gain, Finite Input Resistance, and Non-Zero Output Resistance</vt:lpstr>
      <vt:lpstr>Finite Gain, Finite Input Resistance, and Non-Zero Output Resistance</vt:lpstr>
      <vt:lpstr>Finite Gain, Finite Input Resistance, and Non-Zero Output Resistance</vt:lpstr>
      <vt:lpstr>EQUIVALENT CIRCUIT</vt:lpstr>
      <vt:lpstr>Question 9 </vt:lpstr>
      <vt:lpstr>CASCADED OP-AMPS</vt:lpstr>
      <vt:lpstr>Question 10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Pikowzie David Brown</dc:creator>
  <cp:lastModifiedBy>RFMICROWAVE LAB</cp:lastModifiedBy>
  <cp:revision>104</cp:revision>
  <dcterms:modified xsi:type="dcterms:W3CDTF">2026-02-11T19:17:50Z</dcterms:modified>
</cp:coreProperties>
</file>