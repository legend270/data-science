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61" r:id="rId5"/>
    <p:sldId id="262" r:id="rId6"/>
    <p:sldId id="263" r:id="rId7"/>
    <p:sldId id="267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5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6D772-14C2-401E-8E34-305D944A035F}" type="datetimeFigureOut">
              <a:rPr lang="en-US" smtClean="0"/>
              <a:t>10/8/2019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278A-8221-4847-9199-8F0832C06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7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6D772-14C2-401E-8E34-305D944A035F}" type="datetimeFigureOut">
              <a:rPr lang="en-US" smtClean="0"/>
              <a:t>10/8/2019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278A-8221-4847-9199-8F0832C06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000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6D772-14C2-401E-8E34-305D944A035F}" type="datetimeFigureOut">
              <a:rPr lang="en-US" smtClean="0"/>
              <a:t>10/8/2019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278A-8221-4847-9199-8F0832C06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4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6D772-14C2-401E-8E34-305D944A035F}" type="datetimeFigureOut">
              <a:rPr lang="en-US" smtClean="0"/>
              <a:t>10/8/2019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278A-8221-4847-9199-8F0832C06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586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6D772-14C2-401E-8E34-305D944A035F}" type="datetimeFigureOut">
              <a:rPr lang="en-US" smtClean="0"/>
              <a:t>10/8/2019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278A-8221-4847-9199-8F0832C06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355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6D772-14C2-401E-8E34-305D944A035F}" type="datetimeFigureOut">
              <a:rPr lang="en-US" smtClean="0"/>
              <a:t>10/8/2019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278A-8221-4847-9199-8F0832C06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39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6D772-14C2-401E-8E34-305D944A035F}" type="datetimeFigureOut">
              <a:rPr lang="en-US" smtClean="0"/>
              <a:t>10/8/2019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278A-8221-4847-9199-8F0832C06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40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6D772-14C2-401E-8E34-305D944A035F}" type="datetimeFigureOut">
              <a:rPr lang="en-US" smtClean="0"/>
              <a:t>10/8/2019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278A-8221-4847-9199-8F0832C06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97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6D772-14C2-401E-8E34-305D944A035F}" type="datetimeFigureOut">
              <a:rPr lang="en-US" smtClean="0"/>
              <a:t>10/8/2019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278A-8221-4847-9199-8F0832C06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44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6D772-14C2-401E-8E34-305D944A035F}" type="datetimeFigureOut">
              <a:rPr lang="en-US" smtClean="0"/>
              <a:t>10/8/2019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278A-8221-4847-9199-8F0832C06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839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6D772-14C2-401E-8E34-305D944A035F}" type="datetimeFigureOut">
              <a:rPr lang="en-US" smtClean="0"/>
              <a:t>10/8/2019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278A-8221-4847-9199-8F0832C06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101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6D772-14C2-401E-8E34-305D944A035F}" type="datetimeFigureOut">
              <a:rPr lang="en-US" smtClean="0"/>
              <a:t>10/8/2019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A0278A-8221-4847-9199-8F0832C06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45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978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system is a mathematical model of a physical process that relates the input signal to the output signal.</a:t>
            </a:r>
          </a:p>
          <a:p>
            <a:r>
              <a:rPr lang="en-US" b="1" dirty="0"/>
              <a:t>CT and DT SYSTEMS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If the input and the output signals </a:t>
            </a:r>
            <a:r>
              <a:rPr lang="en-US" b="1" dirty="0"/>
              <a:t>x</a:t>
            </a:r>
            <a:r>
              <a:rPr lang="en-US" dirty="0"/>
              <a:t> and </a:t>
            </a:r>
            <a:r>
              <a:rPr lang="en-US" b="1" dirty="0"/>
              <a:t>y</a:t>
            </a:r>
            <a:r>
              <a:rPr lang="en-US" dirty="0"/>
              <a:t> are continuous time (CT) signals, then the system is called a CT system. If the input and output signals are DT signals or sequences, then the system is called a DT system.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113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905000"/>
            <a:ext cx="4504234" cy="182880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6213" y="4343400"/>
            <a:ext cx="3298825" cy="168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157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Interconnection of Systems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828800"/>
            <a:ext cx="5811061" cy="164805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4114801"/>
            <a:ext cx="5029200" cy="190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855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09800"/>
            <a:ext cx="8001000" cy="284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600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SYSTEM PROPERTIES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867400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b="1" i="1" dirty="0"/>
                  <a:t>System with memory and without memory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 system is said to be </a:t>
                </a:r>
                <a:r>
                  <a:rPr lang="en-US" dirty="0" err="1"/>
                  <a:t>memoryless</a:t>
                </a:r>
                <a:r>
                  <a:rPr lang="en-US" dirty="0"/>
                  <a:t> if the output at any time depends on only the input at that same time.</a:t>
                </a:r>
              </a:p>
              <a:p>
                <a:pPr marL="0" indent="0">
                  <a:buNone/>
                </a:pPr>
                <a:r>
                  <a:rPr lang="en-US" dirty="0"/>
                  <a:t>For example the system specified by the relationship </a:t>
                </a:r>
                <a:r>
                  <a:rPr lang="en-US" b="1" dirty="0"/>
                  <a:t>y[n]=(2x[n] – x</a:t>
                </a:r>
                <a:r>
                  <a:rPr lang="en-US" b="1" baseline="30000" dirty="0"/>
                  <a:t>2</a:t>
                </a:r>
                <a:r>
                  <a:rPr lang="en-US" b="1" dirty="0"/>
                  <a:t>[n])</a:t>
                </a:r>
                <a:r>
                  <a:rPr lang="en-US" dirty="0"/>
                  <a:t> is </a:t>
                </a:r>
                <a:r>
                  <a:rPr lang="en-US" dirty="0" err="1"/>
                  <a:t>memoryless</a:t>
                </a:r>
                <a:r>
                  <a:rPr lang="en-US" dirty="0"/>
                  <a:t> as the value of </a:t>
                </a:r>
                <a:r>
                  <a:rPr lang="en-US" b="1" dirty="0"/>
                  <a:t>y</a:t>
                </a:r>
                <a:r>
                  <a:rPr lang="en-US" dirty="0"/>
                  <a:t> at any particular time</a:t>
                </a:r>
                <a:r>
                  <a:rPr lang="en-US" b="1" dirty="0"/>
                  <a:t> n</a:t>
                </a:r>
                <a:r>
                  <a:rPr lang="en-US" dirty="0"/>
                  <a:t> depends only on the value of </a:t>
                </a:r>
                <a:r>
                  <a:rPr lang="en-US" b="1" dirty="0"/>
                  <a:t>x[n]</a:t>
                </a:r>
                <a:r>
                  <a:rPr lang="en-US" dirty="0"/>
                  <a:t> at that time.</a:t>
                </a:r>
              </a:p>
              <a:p>
                <a:pPr marL="0" indent="0">
                  <a:buNone/>
                </a:pPr>
                <a:r>
                  <a:rPr lang="en-US" dirty="0"/>
                  <a:t>An example of a </a:t>
                </a:r>
                <a:r>
                  <a:rPr lang="en-US" b="1" i="1" dirty="0" err="1"/>
                  <a:t>memoryless</a:t>
                </a:r>
                <a:r>
                  <a:rPr lang="en-US" dirty="0"/>
                  <a:t> system is a </a:t>
                </a:r>
                <a:r>
                  <a:rPr lang="en-US" b="1" dirty="0"/>
                  <a:t>resistor </a:t>
                </a:r>
                <a:r>
                  <a:rPr lang="en-US" dirty="0"/>
                  <a:t>with the input-output relationship y(t)=Rx(t)</a:t>
                </a:r>
              </a:p>
              <a:p>
                <a:pPr marL="0" indent="0">
                  <a:buNone/>
                </a:pPr>
                <a:r>
                  <a:rPr lang="en-US" dirty="0"/>
                  <a:t>A </a:t>
                </a:r>
                <a:r>
                  <a:rPr lang="en-US" b="1" dirty="0"/>
                  <a:t>Capacitor</a:t>
                </a:r>
                <a:r>
                  <a:rPr lang="en-US" dirty="0"/>
                  <a:t> is a system with </a:t>
                </a:r>
                <a:r>
                  <a:rPr lang="en-US" b="1" i="1" dirty="0"/>
                  <a:t>memory </a:t>
                </a:r>
                <a:r>
                  <a:rPr lang="en-US" dirty="0"/>
                  <a:t>(x(t)- Current, y(t)- Voltage)</a:t>
                </a:r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:r>
                  <a:rPr lang="en-US" dirty="0"/>
                  <a:t>y(t)=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den>
                    </m:f>
                    <m:nary>
                      <m:naryPr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/>
                          </a:rPr>
                          <m:t>−∞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p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/>
                          </a:rPr>
                          <m:t>𝑑𝑡</m:t>
                        </m:r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867400"/>
              </a:xfrm>
              <a:blipFill rotWithShape="1">
                <a:blip r:embed="rId2"/>
                <a:stretch>
                  <a:fillRect l="-1333" t="-1559" r="-2000" b="-5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435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err="1"/>
              <a:t>Invertibility</a:t>
            </a:r>
            <a:r>
              <a:rPr lang="en-US" b="1" i="1" dirty="0"/>
              <a:t> and Inverse Systems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system is said to be </a:t>
                </a:r>
                <a:r>
                  <a:rPr lang="en-US" b="1" i="1" dirty="0"/>
                  <a:t>invertible</a:t>
                </a:r>
                <a:r>
                  <a:rPr lang="en-US" dirty="0"/>
                  <a:t> if distinct inputs lead to distinct outputs. If a system is invertible, then an </a:t>
                </a:r>
                <a:r>
                  <a:rPr lang="en-US" b="1" i="1" dirty="0"/>
                  <a:t>inverse system</a:t>
                </a:r>
                <a:r>
                  <a:rPr lang="en-US" dirty="0"/>
                  <a:t> exists that when cascaded with the original system, yield an output equal to the input to the first system.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 example of an </a:t>
                </a:r>
                <a:r>
                  <a:rPr lang="en-US" b="1" i="1" dirty="0"/>
                  <a:t>invertible</a:t>
                </a:r>
                <a:r>
                  <a:rPr lang="en-US" dirty="0"/>
                  <a:t> CT system is </a:t>
                </a:r>
                <a:r>
                  <a:rPr lang="en-US" b="1" dirty="0"/>
                  <a:t>y(t)= 2x(t)</a:t>
                </a:r>
                <a:r>
                  <a:rPr lang="en-US" dirty="0"/>
                  <a:t> for which the inverse system is</a:t>
                </a:r>
                <a:r>
                  <a:rPr lang="en-US" b="1" dirty="0"/>
                  <a:t> w(t)=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b="1" dirty="0"/>
                  <a:t>y(t)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 r="-1778" b="-14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2161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206" y="3258259"/>
            <a:ext cx="6001588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673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i="1" dirty="0"/>
              <a:t>Causal and </a:t>
            </a:r>
            <a:r>
              <a:rPr lang="en-US" b="1" i="1" dirty="0" err="1"/>
              <a:t>Noncausal</a:t>
            </a:r>
            <a:r>
              <a:rPr lang="en-US" b="1" i="1" dirty="0"/>
              <a:t>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system is causal if the output at any time depends only on values of the input at the present time and in the past. A system which is not causal is </a:t>
            </a:r>
            <a:r>
              <a:rPr lang="en-US" dirty="0" err="1"/>
              <a:t>Noncausal</a:t>
            </a:r>
            <a:r>
              <a:rPr lang="en-US" dirty="0"/>
              <a:t>. Examples of </a:t>
            </a:r>
            <a:r>
              <a:rPr lang="en-US" dirty="0" err="1"/>
              <a:t>Noncausal</a:t>
            </a:r>
            <a:r>
              <a:rPr lang="en-US" dirty="0"/>
              <a:t> systems are;</a:t>
            </a:r>
          </a:p>
          <a:p>
            <a:pPr marL="0" indent="0">
              <a:buNone/>
            </a:pPr>
            <a:r>
              <a:rPr lang="en-US" b="1" dirty="0"/>
              <a:t>y(t)= x(t+ 1)</a:t>
            </a:r>
          </a:p>
          <a:p>
            <a:pPr marL="0" indent="0">
              <a:buNone/>
            </a:pPr>
            <a:r>
              <a:rPr lang="en-US" b="1" dirty="0"/>
              <a:t>y[n]= x[-n]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093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Stable Systems (Stability)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system is bounded-input / bounded-output (</a:t>
            </a:r>
            <a:r>
              <a:rPr lang="en-US" dirty="0" err="1"/>
              <a:t>BiBo</a:t>
            </a:r>
            <a:r>
              <a:rPr lang="en-US" dirty="0"/>
              <a:t>) stable if for any bounded </a:t>
            </a:r>
            <a:r>
              <a:rPr lang="en-US" i="1" dirty="0"/>
              <a:t>input</a:t>
            </a:r>
            <a:r>
              <a:rPr lang="en-US" b="1" dirty="0"/>
              <a:t> x </a:t>
            </a:r>
            <a:r>
              <a:rPr lang="en-US" dirty="0"/>
              <a:t>defined by </a:t>
            </a:r>
            <a:r>
              <a:rPr lang="en-US" b="1" dirty="0"/>
              <a:t>|x|≤ k</a:t>
            </a:r>
            <a:r>
              <a:rPr lang="en-US" b="1" baseline="-25000" dirty="0"/>
              <a:t>1 </a:t>
            </a:r>
            <a:r>
              <a:rPr lang="en-US" dirty="0"/>
              <a:t>the corresponding </a:t>
            </a:r>
            <a:r>
              <a:rPr lang="en-US" i="1" dirty="0"/>
              <a:t>output</a:t>
            </a:r>
            <a:r>
              <a:rPr lang="en-US" dirty="0"/>
              <a:t> </a:t>
            </a:r>
            <a:r>
              <a:rPr lang="en-US" b="1" dirty="0"/>
              <a:t>y</a:t>
            </a:r>
            <a:r>
              <a:rPr lang="en-US" dirty="0"/>
              <a:t> is also bounded and defined by </a:t>
            </a:r>
            <a:r>
              <a:rPr lang="en-US" b="1" dirty="0"/>
              <a:t>|y|≤ k</a:t>
            </a:r>
            <a:r>
              <a:rPr lang="en-US" b="1" baseline="-25000" dirty="0"/>
              <a:t>2</a:t>
            </a:r>
            <a:r>
              <a:rPr lang="en-US" dirty="0"/>
              <a:t> where </a:t>
            </a:r>
            <a:r>
              <a:rPr lang="en-US" b="1" dirty="0"/>
              <a:t>k</a:t>
            </a:r>
            <a:r>
              <a:rPr lang="en-US" b="1" baseline="-25000" dirty="0"/>
              <a:t>1</a:t>
            </a:r>
            <a:r>
              <a:rPr lang="en-US" dirty="0"/>
              <a:t> and </a:t>
            </a:r>
            <a:r>
              <a:rPr lang="en-US" b="1" dirty="0"/>
              <a:t>k</a:t>
            </a:r>
            <a:r>
              <a:rPr lang="en-US" b="1" baseline="-25000" dirty="0"/>
              <a:t>2</a:t>
            </a:r>
            <a:r>
              <a:rPr lang="en-US" dirty="0"/>
              <a:t> are finite real constants.</a:t>
            </a:r>
          </a:p>
        </p:txBody>
      </p:sp>
    </p:spTree>
    <p:extLst>
      <p:ext uri="{BB962C8B-B14F-4D97-AF65-F5344CB8AC3E}">
        <p14:creationId xmlns:p14="http://schemas.microsoft.com/office/powerpoint/2010/main" val="1746365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Time Invariance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system is called </a:t>
            </a:r>
            <a:r>
              <a:rPr lang="en-US" b="1" i="1" dirty="0"/>
              <a:t>time-invariant</a:t>
            </a:r>
            <a:r>
              <a:rPr lang="en-US" dirty="0"/>
              <a:t> if a shift (delay or advance) in the input signal causes the same time shift in the output signal. That is, </a:t>
            </a:r>
            <a:r>
              <a:rPr lang="en-US" b="1" dirty="0"/>
              <a:t>if x(t)</a:t>
            </a:r>
            <a:r>
              <a:rPr lang="en-US" dirty="0"/>
              <a:t> produces</a:t>
            </a:r>
            <a:r>
              <a:rPr lang="en-US" b="1" dirty="0"/>
              <a:t> y(t)</a:t>
            </a:r>
            <a:r>
              <a:rPr lang="en-US" dirty="0"/>
              <a:t>, then </a:t>
            </a:r>
            <a:r>
              <a:rPr lang="en-US" b="1" dirty="0"/>
              <a:t>x(t - t</a:t>
            </a:r>
            <a:r>
              <a:rPr lang="en-US" b="1" baseline="-25000" dirty="0"/>
              <a:t>o</a:t>
            </a:r>
            <a:r>
              <a:rPr lang="en-US" b="1" dirty="0"/>
              <a:t>)</a:t>
            </a:r>
            <a:r>
              <a:rPr lang="en-US" dirty="0"/>
              <a:t> must produce </a:t>
            </a:r>
            <a:r>
              <a:rPr lang="en-US" b="1" dirty="0"/>
              <a:t>y(t- t</a:t>
            </a:r>
            <a:r>
              <a:rPr lang="en-US" b="1" baseline="-25000" dirty="0"/>
              <a:t>o</a:t>
            </a:r>
            <a:r>
              <a:rPr lang="en-US" b="1" dirty="0"/>
              <a:t>)</a:t>
            </a:r>
            <a:r>
              <a:rPr lang="en-US" dirty="0"/>
              <a:t> for any value of </a:t>
            </a:r>
            <a:r>
              <a:rPr lang="en-US" b="1" dirty="0"/>
              <a:t>t</a:t>
            </a:r>
            <a:r>
              <a:rPr lang="en-US" b="1" baseline="-25000" dirty="0"/>
              <a:t>o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To check a system for </a:t>
            </a:r>
            <a:r>
              <a:rPr lang="en-US" b="1" i="1" dirty="0"/>
              <a:t>time-invariance</a:t>
            </a:r>
            <a:r>
              <a:rPr lang="en-US" dirty="0"/>
              <a:t>, we can compare shifted output with the output produced by the shifted input.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254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/>
              <a:t>Example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562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Consider the CT system defined by y(t)= sin[x(t)]</a:t>
            </a:r>
          </a:p>
          <a:p>
            <a:pPr marL="0" indent="0">
              <a:buNone/>
            </a:pPr>
            <a:r>
              <a:rPr lang="en-US" dirty="0"/>
              <a:t>  If x</a:t>
            </a:r>
            <a:r>
              <a:rPr lang="en-US" baseline="-25000" dirty="0"/>
              <a:t>1</a:t>
            </a:r>
            <a:r>
              <a:rPr lang="en-US" dirty="0"/>
              <a:t>(t) is an arbitrary input, then</a:t>
            </a:r>
          </a:p>
          <a:p>
            <a:pPr marL="0" indent="0">
              <a:buNone/>
            </a:pPr>
            <a:r>
              <a:rPr lang="en-US" dirty="0"/>
              <a:t>y</a:t>
            </a:r>
            <a:r>
              <a:rPr lang="en-US" baseline="-25000" dirty="0"/>
              <a:t>1</a:t>
            </a:r>
            <a:r>
              <a:rPr lang="en-US" dirty="0"/>
              <a:t>(t)= sin[x</a:t>
            </a:r>
            <a:r>
              <a:rPr lang="en-US" baseline="-25000" dirty="0"/>
              <a:t>1</a:t>
            </a:r>
            <a:r>
              <a:rPr lang="en-US" dirty="0"/>
              <a:t>(t)]----------------------------(1)</a:t>
            </a:r>
          </a:p>
          <a:p>
            <a:pPr marL="0" indent="0">
              <a:buNone/>
            </a:pPr>
            <a:r>
              <a:rPr lang="en-US" dirty="0"/>
              <a:t>If x</a:t>
            </a:r>
            <a:r>
              <a:rPr lang="en-US" baseline="-25000" dirty="0"/>
              <a:t>2</a:t>
            </a:r>
            <a:r>
              <a:rPr lang="en-US" dirty="0"/>
              <a:t>(t)= x</a:t>
            </a:r>
            <a:r>
              <a:rPr lang="en-US" baseline="-25000" dirty="0"/>
              <a:t>1</a:t>
            </a:r>
            <a:r>
              <a:rPr lang="en-US" dirty="0"/>
              <a:t>(t- t</a:t>
            </a:r>
            <a:r>
              <a:rPr lang="en-US" baseline="-25000" dirty="0"/>
              <a:t>o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→y</a:t>
            </a:r>
            <a:r>
              <a:rPr lang="en-US" baseline="-25000" dirty="0"/>
              <a:t>2</a:t>
            </a:r>
            <a:r>
              <a:rPr lang="en-US" dirty="0"/>
              <a:t>(t)= sin[x</a:t>
            </a:r>
            <a:r>
              <a:rPr lang="en-US" baseline="-25000" dirty="0"/>
              <a:t>2</a:t>
            </a:r>
            <a:r>
              <a:rPr lang="en-US" dirty="0"/>
              <a:t>(t)] = sin[x</a:t>
            </a:r>
            <a:r>
              <a:rPr lang="en-US" baseline="-25000" dirty="0"/>
              <a:t>1</a:t>
            </a:r>
            <a:r>
              <a:rPr lang="en-US" dirty="0"/>
              <a:t>(t- t</a:t>
            </a:r>
            <a:r>
              <a:rPr lang="en-US" baseline="-25000" dirty="0"/>
              <a:t>o</a:t>
            </a:r>
            <a:r>
              <a:rPr lang="en-US" dirty="0"/>
              <a:t>)]--------------(2)</a:t>
            </a:r>
          </a:p>
          <a:p>
            <a:pPr marL="0" indent="0">
              <a:buNone/>
            </a:pPr>
            <a:r>
              <a:rPr lang="en-US" dirty="0"/>
              <a:t>Similarly from equation (1)</a:t>
            </a:r>
          </a:p>
          <a:p>
            <a:pPr marL="0" indent="0">
              <a:buNone/>
            </a:pPr>
            <a:r>
              <a:rPr lang="en-US" dirty="0"/>
              <a:t>y</a:t>
            </a:r>
            <a:r>
              <a:rPr lang="en-US" baseline="-25000" dirty="0"/>
              <a:t>1</a:t>
            </a:r>
            <a:r>
              <a:rPr lang="en-US" dirty="0"/>
              <a:t>(t- t</a:t>
            </a:r>
            <a:r>
              <a:rPr lang="en-US" baseline="-25000" dirty="0"/>
              <a:t>o</a:t>
            </a:r>
            <a:r>
              <a:rPr lang="en-US" dirty="0"/>
              <a:t>)= sin[x</a:t>
            </a:r>
            <a:r>
              <a:rPr lang="en-US" baseline="-25000" dirty="0"/>
              <a:t>1</a:t>
            </a:r>
            <a:r>
              <a:rPr lang="en-US" dirty="0"/>
              <a:t>(t- t</a:t>
            </a:r>
            <a:r>
              <a:rPr lang="en-US" baseline="-25000" dirty="0"/>
              <a:t>o</a:t>
            </a:r>
            <a:r>
              <a:rPr lang="en-US" dirty="0"/>
              <a:t>)]-------------------------------(3)</a:t>
            </a:r>
          </a:p>
          <a:p>
            <a:pPr marL="0" indent="0">
              <a:buNone/>
            </a:pPr>
            <a:r>
              <a:rPr lang="en-US" dirty="0"/>
              <a:t>Comparing </a:t>
            </a:r>
            <a:r>
              <a:rPr lang="en-US" dirty="0" err="1"/>
              <a:t>eqns</a:t>
            </a:r>
            <a:r>
              <a:rPr lang="en-US" dirty="0"/>
              <a:t> (2) and (3) we see that</a:t>
            </a:r>
          </a:p>
          <a:p>
            <a:pPr marL="0" indent="0">
              <a:buNone/>
            </a:pPr>
            <a:r>
              <a:rPr lang="en-US" dirty="0"/>
              <a:t>y</a:t>
            </a:r>
            <a:r>
              <a:rPr lang="en-US" baseline="-25000" dirty="0"/>
              <a:t>2</a:t>
            </a:r>
            <a:r>
              <a:rPr lang="en-US" dirty="0"/>
              <a:t>(t)=y</a:t>
            </a:r>
            <a:r>
              <a:rPr lang="en-US" baseline="-25000" dirty="0"/>
              <a:t>1</a:t>
            </a:r>
            <a:r>
              <a:rPr lang="en-US" dirty="0"/>
              <a:t>(t- t</a:t>
            </a:r>
            <a:r>
              <a:rPr lang="en-US" baseline="-25000" dirty="0"/>
              <a:t>o</a:t>
            </a:r>
            <a:r>
              <a:rPr lang="en-US" dirty="0"/>
              <a:t>)  and therefore,</a:t>
            </a:r>
          </a:p>
          <a:p>
            <a:pPr marL="0" indent="0">
              <a:buNone/>
            </a:pPr>
            <a:r>
              <a:rPr lang="en-US" dirty="0"/>
              <a:t>The system is </a:t>
            </a:r>
            <a:r>
              <a:rPr lang="en-US" b="1" i="1" dirty="0"/>
              <a:t>time-invariant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023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Linear Systems (Linearity)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 linear system, in CT or </a:t>
            </a:r>
            <a:r>
              <a:rPr lang="en-US" dirty="0" err="1"/>
              <a:t>DT,is</a:t>
            </a:r>
            <a:r>
              <a:rPr lang="en-US" dirty="0"/>
              <a:t> a system that possesses important property of superposition; if an input consists of the weighted sum of several signals, then the output is the superposition that is, the weighted sum-of the responses of the system to each of these signals.</a:t>
            </a:r>
          </a:p>
          <a:p>
            <a:pPr marL="0" indent="0">
              <a:buNone/>
            </a:pPr>
            <a:r>
              <a:rPr lang="en-US" dirty="0"/>
              <a:t>Let</a:t>
            </a:r>
            <a:r>
              <a:rPr lang="en-US" b="1" dirty="0"/>
              <a:t> y</a:t>
            </a:r>
            <a:r>
              <a:rPr lang="en-US" b="1" baseline="-25000" dirty="0"/>
              <a:t>1</a:t>
            </a:r>
            <a:r>
              <a:rPr lang="en-US" b="1" dirty="0"/>
              <a:t>(t)</a:t>
            </a:r>
            <a:r>
              <a:rPr lang="en-US" dirty="0"/>
              <a:t> be the response of a CT system to an input </a:t>
            </a:r>
            <a:r>
              <a:rPr lang="en-US" b="1" dirty="0"/>
              <a:t>x</a:t>
            </a:r>
            <a:r>
              <a:rPr lang="en-US" b="1" baseline="-25000" dirty="0"/>
              <a:t>1</a:t>
            </a:r>
            <a:r>
              <a:rPr lang="en-US" b="1" dirty="0"/>
              <a:t>(t)</a:t>
            </a:r>
            <a:r>
              <a:rPr lang="en-US" dirty="0"/>
              <a:t>, and let </a:t>
            </a:r>
            <a:r>
              <a:rPr lang="en-US" b="1" dirty="0"/>
              <a:t>y</a:t>
            </a:r>
            <a:r>
              <a:rPr lang="en-US" b="1" baseline="-25000" dirty="0"/>
              <a:t>2</a:t>
            </a:r>
            <a:r>
              <a:rPr lang="en-US" b="1" dirty="0"/>
              <a:t>(t)</a:t>
            </a:r>
            <a:r>
              <a:rPr lang="en-US" dirty="0"/>
              <a:t> be the output corresponding to the input </a:t>
            </a:r>
            <a:r>
              <a:rPr lang="en-US" b="1" dirty="0"/>
              <a:t>x</a:t>
            </a:r>
            <a:r>
              <a:rPr lang="en-US" b="1" baseline="-25000" dirty="0"/>
              <a:t>2</a:t>
            </a:r>
            <a:r>
              <a:rPr lang="en-US" b="1" dirty="0"/>
              <a:t>(t)</a:t>
            </a:r>
            <a:r>
              <a:rPr lang="en-US" dirty="0"/>
              <a:t> then the system is linear if;</a:t>
            </a:r>
          </a:p>
          <a:p>
            <a:pPr marL="0" indent="0">
              <a:buNone/>
            </a:pPr>
            <a:r>
              <a:rPr lang="en-US" dirty="0"/>
              <a:t>1. The response to </a:t>
            </a:r>
            <a:r>
              <a:rPr lang="en-US" b="1" dirty="0"/>
              <a:t>x</a:t>
            </a:r>
            <a:r>
              <a:rPr lang="en-US" b="1" baseline="-25000" dirty="0"/>
              <a:t>1</a:t>
            </a:r>
            <a:r>
              <a:rPr lang="en-US" b="1" dirty="0"/>
              <a:t>(t) + x</a:t>
            </a:r>
            <a:r>
              <a:rPr lang="en-US" b="1" baseline="-25000" dirty="0"/>
              <a:t>2</a:t>
            </a:r>
            <a:r>
              <a:rPr lang="en-US" b="1" dirty="0"/>
              <a:t>(t)</a:t>
            </a:r>
            <a:r>
              <a:rPr lang="en-US" dirty="0"/>
              <a:t> is </a:t>
            </a:r>
            <a:r>
              <a:rPr lang="en-US" b="1" dirty="0"/>
              <a:t>y</a:t>
            </a:r>
            <a:r>
              <a:rPr lang="en-US" b="1" baseline="-25000" dirty="0"/>
              <a:t>1</a:t>
            </a:r>
            <a:r>
              <a:rPr lang="en-US" b="1" dirty="0"/>
              <a:t>(t) + y</a:t>
            </a:r>
            <a:r>
              <a:rPr lang="en-US" b="1" baseline="-25000" dirty="0"/>
              <a:t>2</a:t>
            </a:r>
            <a:r>
              <a:rPr lang="en-US" b="1" dirty="0"/>
              <a:t>(t)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2. The response to </a:t>
            </a:r>
            <a:r>
              <a:rPr lang="en-US" b="1" dirty="0"/>
              <a:t>ax</a:t>
            </a:r>
            <a:r>
              <a:rPr lang="en-US" b="1" baseline="-25000" dirty="0"/>
              <a:t>1</a:t>
            </a:r>
            <a:r>
              <a:rPr lang="en-US" b="1" dirty="0"/>
              <a:t>(t)</a:t>
            </a:r>
            <a:r>
              <a:rPr lang="en-US" dirty="0"/>
              <a:t>  is </a:t>
            </a:r>
            <a:r>
              <a:rPr lang="en-US" b="1" dirty="0"/>
              <a:t>ay</a:t>
            </a:r>
            <a:r>
              <a:rPr lang="en-US" b="1" baseline="-25000" dirty="0"/>
              <a:t>1</a:t>
            </a:r>
            <a:r>
              <a:rPr lang="en-US" b="1" dirty="0"/>
              <a:t>(t)</a:t>
            </a:r>
            <a:r>
              <a:rPr lang="en-US" dirty="0"/>
              <a:t>, where a is any complex constant.</a:t>
            </a:r>
          </a:p>
          <a:p>
            <a:pPr marL="0" indent="0">
              <a:buNone/>
            </a:pPr>
            <a:r>
              <a:rPr lang="en-US" dirty="0"/>
              <a:t>Property 1 is known as the </a:t>
            </a:r>
            <a:r>
              <a:rPr lang="en-US" b="1" i="1" dirty="0" err="1"/>
              <a:t>additivity</a:t>
            </a:r>
            <a:r>
              <a:rPr lang="en-US" dirty="0"/>
              <a:t> property and property 2 is known as the </a:t>
            </a:r>
            <a:r>
              <a:rPr lang="en-US" b="1" i="1" dirty="0"/>
              <a:t>scaling</a:t>
            </a:r>
            <a:r>
              <a:rPr lang="en-US" dirty="0"/>
              <a:t> or </a:t>
            </a:r>
            <a:r>
              <a:rPr lang="en-US" b="1" i="1" dirty="0"/>
              <a:t>homogeneity</a:t>
            </a:r>
            <a:r>
              <a:rPr lang="en-US" dirty="0"/>
              <a:t> property.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082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/>
              <a:t>Example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Consider a system</a:t>
            </a:r>
            <a:r>
              <a:rPr lang="en-US" b="1" dirty="0"/>
              <a:t> S</a:t>
            </a:r>
            <a:r>
              <a:rPr lang="en-US" dirty="0"/>
              <a:t> whose input x(t) and output y(t) are related by</a:t>
            </a:r>
          </a:p>
          <a:p>
            <a:pPr marL="0" indent="0">
              <a:buNone/>
            </a:pPr>
            <a:r>
              <a:rPr lang="en-US" dirty="0"/>
              <a:t>y(t)= </a:t>
            </a:r>
            <a:r>
              <a:rPr lang="en-US" dirty="0" err="1"/>
              <a:t>tx</a:t>
            </a:r>
            <a:r>
              <a:rPr lang="en-US" dirty="0"/>
              <a:t>(t)</a:t>
            </a:r>
          </a:p>
          <a:p>
            <a:pPr marL="0" indent="0">
              <a:buNone/>
            </a:pPr>
            <a:r>
              <a:rPr lang="en-US" dirty="0"/>
              <a:t>To determine whether or not S is linear, we consider two arbitrary inputs x</a:t>
            </a:r>
            <a:r>
              <a:rPr lang="en-US" baseline="-25000" dirty="0"/>
              <a:t>1</a:t>
            </a:r>
            <a:r>
              <a:rPr lang="en-US" dirty="0"/>
              <a:t>(t) and x</a:t>
            </a:r>
            <a:r>
              <a:rPr lang="en-US" baseline="-25000" dirty="0"/>
              <a:t>2</a:t>
            </a:r>
            <a:r>
              <a:rPr lang="en-US" dirty="0"/>
              <a:t>(t)</a:t>
            </a:r>
          </a:p>
          <a:p>
            <a:pPr marL="0" indent="0">
              <a:buNone/>
            </a:pP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(t) → y</a:t>
            </a:r>
            <a:r>
              <a:rPr lang="en-US" baseline="-25000" dirty="0"/>
              <a:t>1</a:t>
            </a:r>
            <a:r>
              <a:rPr lang="en-US" dirty="0"/>
              <a:t>(t) = tx</a:t>
            </a:r>
            <a:r>
              <a:rPr lang="en-US" baseline="-25000" dirty="0"/>
              <a:t>1</a:t>
            </a:r>
            <a:r>
              <a:rPr lang="en-US" dirty="0"/>
              <a:t>(t)</a:t>
            </a:r>
          </a:p>
          <a:p>
            <a:pPr marL="0" indent="0">
              <a:buNone/>
            </a:pPr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(t) → y</a:t>
            </a:r>
            <a:r>
              <a:rPr lang="en-US" baseline="-25000" dirty="0"/>
              <a:t>2</a:t>
            </a:r>
            <a:r>
              <a:rPr lang="en-US" dirty="0"/>
              <a:t>(t) = tx</a:t>
            </a:r>
            <a:r>
              <a:rPr lang="en-US" baseline="-25000" dirty="0"/>
              <a:t>2</a:t>
            </a:r>
            <a:r>
              <a:rPr lang="en-US" dirty="0"/>
              <a:t>(t)</a:t>
            </a:r>
          </a:p>
          <a:p>
            <a:pPr marL="0" indent="0">
              <a:buNone/>
            </a:pPr>
            <a:r>
              <a:rPr lang="en-US" dirty="0"/>
              <a:t>Let x</a:t>
            </a:r>
            <a:r>
              <a:rPr lang="en-US" baseline="-25000" dirty="0"/>
              <a:t>3</a:t>
            </a:r>
            <a:r>
              <a:rPr lang="en-US" dirty="0"/>
              <a:t>(t) be a linear combination of x</a:t>
            </a:r>
            <a:r>
              <a:rPr lang="en-US" baseline="-25000" dirty="0"/>
              <a:t>1</a:t>
            </a:r>
            <a:r>
              <a:rPr lang="en-US" dirty="0"/>
              <a:t>(t) and x</a:t>
            </a:r>
            <a:r>
              <a:rPr lang="en-US" baseline="-25000" dirty="0"/>
              <a:t>2</a:t>
            </a:r>
            <a:r>
              <a:rPr lang="en-US" dirty="0"/>
              <a:t>(t), that is</a:t>
            </a:r>
          </a:p>
          <a:p>
            <a:pPr marL="0" indent="0">
              <a:buNone/>
            </a:pPr>
            <a:r>
              <a:rPr lang="en-US" dirty="0"/>
              <a:t>x</a:t>
            </a:r>
            <a:r>
              <a:rPr lang="en-US" baseline="-25000" dirty="0"/>
              <a:t>3</a:t>
            </a:r>
            <a:r>
              <a:rPr lang="en-US" dirty="0"/>
              <a:t>(t)= ax</a:t>
            </a:r>
            <a:r>
              <a:rPr lang="en-US" baseline="-25000" dirty="0"/>
              <a:t>1</a:t>
            </a:r>
            <a:r>
              <a:rPr lang="en-US" dirty="0"/>
              <a:t>(t) + bx</a:t>
            </a:r>
            <a:r>
              <a:rPr lang="en-US" baseline="-25000" dirty="0"/>
              <a:t>2</a:t>
            </a:r>
            <a:r>
              <a:rPr lang="en-US" dirty="0"/>
              <a:t>(t) , where a and b are arbitrary scalars.</a:t>
            </a:r>
          </a:p>
          <a:p>
            <a:pPr marL="0" indent="0">
              <a:buNone/>
            </a:pPr>
            <a:r>
              <a:rPr lang="en-US" dirty="0"/>
              <a:t>If x</a:t>
            </a:r>
            <a:r>
              <a:rPr lang="en-US" baseline="-25000" dirty="0"/>
              <a:t>3</a:t>
            </a:r>
            <a:r>
              <a:rPr lang="en-US" dirty="0"/>
              <a:t>(t) is the input to </a:t>
            </a:r>
            <a:r>
              <a:rPr lang="en-US" b="1" dirty="0"/>
              <a:t>S</a:t>
            </a:r>
            <a:r>
              <a:rPr lang="en-US" dirty="0"/>
              <a:t>, then the corresponding output may expressed as</a:t>
            </a:r>
          </a:p>
          <a:p>
            <a:pPr marL="0" indent="0">
              <a:buNone/>
            </a:pPr>
            <a:r>
              <a:rPr lang="en-US" dirty="0"/>
              <a:t>y</a:t>
            </a:r>
            <a:r>
              <a:rPr lang="en-US" baseline="-25000" dirty="0"/>
              <a:t>3</a:t>
            </a:r>
            <a:r>
              <a:rPr lang="en-US" dirty="0"/>
              <a:t>(t)= tx</a:t>
            </a:r>
            <a:r>
              <a:rPr lang="en-US" baseline="-25000" dirty="0"/>
              <a:t>3</a:t>
            </a:r>
            <a:r>
              <a:rPr lang="en-US" dirty="0"/>
              <a:t>(t)</a:t>
            </a:r>
          </a:p>
          <a:p>
            <a:pPr marL="0" indent="0">
              <a:buNone/>
            </a:pPr>
            <a:r>
              <a:rPr lang="en-US" dirty="0"/>
              <a:t>       = t(ax</a:t>
            </a:r>
            <a:r>
              <a:rPr lang="en-US" baseline="-25000" dirty="0"/>
              <a:t>1</a:t>
            </a:r>
            <a:r>
              <a:rPr lang="en-US" dirty="0"/>
              <a:t>(t) + bx</a:t>
            </a:r>
            <a:r>
              <a:rPr lang="en-US" baseline="-25000" dirty="0"/>
              <a:t>2</a:t>
            </a:r>
            <a:r>
              <a:rPr lang="en-US" dirty="0"/>
              <a:t>(t))</a:t>
            </a:r>
          </a:p>
          <a:p>
            <a:pPr marL="0" indent="0">
              <a:buNone/>
            </a:pPr>
            <a:r>
              <a:rPr lang="en-US" dirty="0"/>
              <a:t>       = atx</a:t>
            </a:r>
            <a:r>
              <a:rPr lang="en-US" baseline="-25000" dirty="0"/>
              <a:t>1</a:t>
            </a:r>
            <a:r>
              <a:rPr lang="en-US" dirty="0"/>
              <a:t>(t) + btx</a:t>
            </a:r>
            <a:r>
              <a:rPr lang="en-US" baseline="-25000" dirty="0"/>
              <a:t>2</a:t>
            </a:r>
            <a:r>
              <a:rPr lang="en-US" dirty="0"/>
              <a:t>(t)</a:t>
            </a:r>
          </a:p>
          <a:p>
            <a:pPr marL="0" indent="0">
              <a:buNone/>
            </a:pPr>
            <a:r>
              <a:rPr lang="en-US" dirty="0"/>
              <a:t>       = ay</a:t>
            </a:r>
            <a:r>
              <a:rPr lang="en-US" baseline="-25000" dirty="0"/>
              <a:t>1</a:t>
            </a:r>
            <a:r>
              <a:rPr lang="en-US" dirty="0"/>
              <a:t>(t) + by</a:t>
            </a:r>
            <a:r>
              <a:rPr lang="en-US" baseline="-25000" dirty="0"/>
              <a:t>2</a:t>
            </a:r>
            <a:r>
              <a:rPr lang="en-US" dirty="0"/>
              <a:t>(t)</a:t>
            </a:r>
          </a:p>
          <a:p>
            <a:pPr marL="0" indent="0">
              <a:buNone/>
            </a:pPr>
            <a:r>
              <a:rPr lang="en-US" dirty="0"/>
              <a:t>We conclude that </a:t>
            </a:r>
            <a:r>
              <a:rPr lang="en-US" b="1" dirty="0"/>
              <a:t>S</a:t>
            </a:r>
            <a:r>
              <a:rPr lang="en-US" dirty="0"/>
              <a:t> is</a:t>
            </a:r>
            <a:r>
              <a:rPr lang="en-US" b="1" i="1" dirty="0"/>
              <a:t> linear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333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050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838200"/>
          </a:xfrm>
        </p:spPr>
        <p:txBody>
          <a:bodyPr/>
          <a:lstStyle/>
          <a:p>
            <a:pPr eaLnBrk="1" hangingPunct="1"/>
            <a:r>
              <a:rPr lang="en-GB" dirty="0"/>
              <a:t>How is a System Represented?</a:t>
            </a:r>
          </a:p>
        </p:txBody>
      </p:sp>
      <p:sp>
        <p:nvSpPr>
          <p:cNvPr id="1229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3340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GB" dirty="0"/>
              <a:t>A system takes a signal as an input and transforms it into another signal</a:t>
            </a:r>
          </a:p>
          <a:p>
            <a:pPr eaLnBrk="1" hangingPunct="1">
              <a:lnSpc>
                <a:spcPct val="90000"/>
              </a:lnSpc>
            </a:pPr>
            <a:endParaRPr lang="en-GB" dirty="0"/>
          </a:p>
          <a:p>
            <a:pPr eaLnBrk="1" hangingPunct="1">
              <a:lnSpc>
                <a:spcPct val="90000"/>
              </a:lnSpc>
            </a:pPr>
            <a:endParaRPr lang="en-GB" dirty="0"/>
          </a:p>
          <a:p>
            <a:pPr eaLnBrk="1" hangingPunct="1">
              <a:lnSpc>
                <a:spcPct val="90000"/>
              </a:lnSpc>
            </a:pPr>
            <a:endParaRPr lang="en-GB" dirty="0"/>
          </a:p>
          <a:p>
            <a:pPr eaLnBrk="1" hangingPunct="1">
              <a:lnSpc>
                <a:spcPct val="90000"/>
              </a:lnSpc>
            </a:pPr>
            <a:endParaRPr lang="en-GB" dirty="0"/>
          </a:p>
          <a:p>
            <a:pPr eaLnBrk="1" hangingPunct="1">
              <a:lnSpc>
                <a:spcPct val="90000"/>
              </a:lnSpc>
            </a:pPr>
            <a:r>
              <a:rPr lang="en-GB" dirty="0"/>
              <a:t>In a very broad sense, a system can be represented as the ratio of the output signal over the input signal</a:t>
            </a:r>
          </a:p>
          <a:p>
            <a:pPr eaLnBrk="1" hangingPunct="1">
              <a:lnSpc>
                <a:spcPct val="90000"/>
              </a:lnSpc>
            </a:pPr>
            <a:endParaRPr lang="en-GB" dirty="0"/>
          </a:p>
          <a:p>
            <a:pPr lvl="1" eaLnBrk="1" hangingPunct="1">
              <a:lnSpc>
                <a:spcPct val="90000"/>
              </a:lnSpc>
            </a:pPr>
            <a:r>
              <a:rPr lang="en-GB" dirty="0"/>
              <a:t>That way, when we “multiply” the system by the input signal, we get the output signal</a:t>
            </a:r>
          </a:p>
          <a:p>
            <a:pPr lvl="1" eaLnBrk="1" hangingPunct="1">
              <a:lnSpc>
                <a:spcPct val="90000"/>
              </a:lnSpc>
            </a:pPr>
            <a:r>
              <a:rPr lang="en-GB" dirty="0"/>
              <a:t>This concept will be firmed up in the coming weeks</a:t>
            </a:r>
          </a:p>
        </p:txBody>
      </p:sp>
      <p:sp>
        <p:nvSpPr>
          <p:cNvPr id="12294" name="Rectangle 2052"/>
          <p:cNvSpPr>
            <a:spLocks noChangeArrowheads="1"/>
          </p:cNvSpPr>
          <p:nvPr/>
        </p:nvSpPr>
        <p:spPr bwMode="auto">
          <a:xfrm>
            <a:off x="3386138" y="2133600"/>
            <a:ext cx="2209800" cy="1143000"/>
          </a:xfrm>
          <a:prstGeom prst="rect">
            <a:avLst/>
          </a:prstGeom>
          <a:solidFill>
            <a:srgbClr val="C0C0C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buFontTx/>
              <a:buNone/>
            </a:pPr>
            <a:r>
              <a:rPr lang="en-US" sz="2400" i="0"/>
              <a:t>System</a:t>
            </a:r>
            <a:endParaRPr lang="en-GB" sz="2400" i="0"/>
          </a:p>
        </p:txBody>
      </p:sp>
      <p:cxnSp>
        <p:nvCxnSpPr>
          <p:cNvPr id="12295" name="AutoShape 2054"/>
          <p:cNvCxnSpPr>
            <a:cxnSpLocks noChangeShapeType="1"/>
            <a:endCxn id="12294" idx="1"/>
          </p:cNvCxnSpPr>
          <p:nvPr/>
        </p:nvCxnSpPr>
        <p:spPr bwMode="auto">
          <a:xfrm>
            <a:off x="1600200" y="2705100"/>
            <a:ext cx="177641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296" name="AutoShape 2055"/>
          <p:cNvCxnSpPr>
            <a:cxnSpLocks noChangeShapeType="1"/>
            <a:stCxn id="12294" idx="3"/>
          </p:cNvCxnSpPr>
          <p:nvPr/>
        </p:nvCxnSpPr>
        <p:spPr bwMode="auto">
          <a:xfrm flipV="1">
            <a:off x="5605463" y="2697163"/>
            <a:ext cx="1768475" cy="79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97" name="Text Box 2056"/>
          <p:cNvSpPr txBox="1">
            <a:spLocks noChangeArrowheads="1"/>
          </p:cNvSpPr>
          <p:nvPr/>
        </p:nvSpPr>
        <p:spPr bwMode="auto">
          <a:xfrm>
            <a:off x="1143000" y="2263775"/>
            <a:ext cx="185420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i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sz="2000" i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sz="2000" i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sz="2000" i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sz="2000" i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i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i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i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i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r" eaLnBrk="1" hangingPunct="1">
              <a:buFontTx/>
              <a:buNone/>
            </a:pPr>
            <a:r>
              <a:rPr lang="en-US" sz="2400" i="0"/>
              <a:t>Input signal</a:t>
            </a:r>
          </a:p>
          <a:p>
            <a:pPr algn="r" eaLnBrk="1" hangingPunct="1">
              <a:buFontTx/>
              <a:buNone/>
            </a:pPr>
            <a:endParaRPr lang="en-US" sz="400" i="0"/>
          </a:p>
          <a:p>
            <a:pPr algn="r" eaLnBrk="1" hangingPunct="1">
              <a:buFontTx/>
              <a:buNone/>
            </a:pPr>
            <a:r>
              <a:rPr lang="en-US" sz="2400"/>
              <a:t>x</a:t>
            </a:r>
            <a:r>
              <a:rPr lang="en-US" sz="2400" i="0"/>
              <a:t>(</a:t>
            </a:r>
            <a:r>
              <a:rPr lang="en-US" sz="2400"/>
              <a:t>t</a:t>
            </a:r>
            <a:r>
              <a:rPr lang="en-US" sz="2400" i="0"/>
              <a:t>)</a:t>
            </a:r>
            <a:endParaRPr lang="en-GB" sz="2400" i="0"/>
          </a:p>
        </p:txBody>
      </p:sp>
      <p:sp>
        <p:nvSpPr>
          <p:cNvPr id="12298" name="Text Box 2057"/>
          <p:cNvSpPr txBox="1">
            <a:spLocks noChangeArrowheads="1"/>
          </p:cNvSpPr>
          <p:nvPr/>
        </p:nvSpPr>
        <p:spPr bwMode="auto">
          <a:xfrm>
            <a:off x="5748338" y="2263775"/>
            <a:ext cx="2176462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i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sz="2000" i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sz="2000" i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sz="2000" i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sz="2000" i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i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i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i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i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sz="2400" i="0"/>
              <a:t>Output signal</a:t>
            </a:r>
          </a:p>
          <a:p>
            <a:pPr eaLnBrk="1" hangingPunct="1">
              <a:buFontTx/>
              <a:buNone/>
            </a:pPr>
            <a:endParaRPr lang="en-US" sz="400" i="0"/>
          </a:p>
          <a:p>
            <a:pPr eaLnBrk="1" hangingPunct="1">
              <a:buFontTx/>
              <a:buNone/>
            </a:pPr>
            <a:r>
              <a:rPr lang="en-US" sz="2400"/>
              <a:t>y</a:t>
            </a:r>
            <a:r>
              <a:rPr lang="en-US" sz="2400" i="0"/>
              <a:t>(</a:t>
            </a:r>
            <a:r>
              <a:rPr lang="en-US" sz="2400"/>
              <a:t>t</a:t>
            </a:r>
            <a:r>
              <a:rPr lang="en-US" sz="2400" i="0"/>
              <a:t>)</a:t>
            </a:r>
            <a:endParaRPr lang="en-GB" sz="2400" i="0"/>
          </a:p>
        </p:txBody>
      </p:sp>
    </p:spTree>
    <p:extLst>
      <p:ext uri="{BB962C8B-B14F-4D97-AF65-F5344CB8AC3E}">
        <p14:creationId xmlns:p14="http://schemas.microsoft.com/office/powerpoint/2010/main" val="2862025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1036</Words>
  <Application>Microsoft Office PowerPoint</Application>
  <PresentationFormat>On-screen Show (4:3)</PresentationFormat>
  <Paragraphs>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 Math</vt:lpstr>
      <vt:lpstr>Office Theme</vt:lpstr>
      <vt:lpstr>SYSTEMS</vt:lpstr>
      <vt:lpstr>PowerPoint Presentation</vt:lpstr>
      <vt:lpstr>PowerPoint Presentation</vt:lpstr>
      <vt:lpstr>Interconnection of Systems </vt:lpstr>
      <vt:lpstr>PowerPoint Presentation</vt:lpstr>
      <vt:lpstr>SYSTEM PROPERTIES </vt:lpstr>
      <vt:lpstr>Invertibility and Inverse Systems</vt:lpstr>
      <vt:lpstr>PowerPoint Presentation</vt:lpstr>
      <vt:lpstr> Causal and Noncausal Systems</vt:lpstr>
      <vt:lpstr>Stable Systems (Stability)</vt:lpstr>
      <vt:lpstr>Time Invariance</vt:lpstr>
      <vt:lpstr>Example </vt:lpstr>
      <vt:lpstr>Linear Systems (Linearity)</vt:lpstr>
      <vt:lpstr>Example </vt:lpstr>
      <vt:lpstr>How is a System Represented?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</dc:title>
  <dc:creator>DELL</dc:creator>
  <cp:lastModifiedBy>Mr Agyekum</cp:lastModifiedBy>
  <cp:revision>13</cp:revision>
  <dcterms:created xsi:type="dcterms:W3CDTF">2015-09-10T07:47:11Z</dcterms:created>
  <dcterms:modified xsi:type="dcterms:W3CDTF">2019-10-08T12:09:31Z</dcterms:modified>
</cp:coreProperties>
</file>