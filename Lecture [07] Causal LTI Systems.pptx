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7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3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3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4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9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0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2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9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1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1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C616E-896E-4918-9379-9C6A458E50B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F50D0-6018-4F46-B78A-8344512A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5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CAUSAL LTI SYSTEMS DESCRIBED BY DIFFERENTIAL AND DIFFERENCE EQUATIONS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An extremely important class of CT systems is that for which the input and output are related through a </a:t>
            </a:r>
            <a:r>
              <a:rPr lang="en-GB" sz="2800" b="1" dirty="0"/>
              <a:t>linear constant-coefficient differential equation</a:t>
            </a:r>
          </a:p>
          <a:p>
            <a:pPr marL="0" indent="0">
              <a:buNone/>
            </a:pPr>
            <a:r>
              <a:rPr lang="en-GB" sz="2800" dirty="0"/>
              <a:t>Equation of this type arise in the description of a wide variety of systems and physical phenomena.</a:t>
            </a:r>
          </a:p>
          <a:p>
            <a:pPr marL="0" indent="0">
              <a:buNone/>
            </a:pPr>
            <a:r>
              <a:rPr lang="en-GB" sz="2800" dirty="0"/>
              <a:t>Correspondingly, an important class of  DT systems is that for which the input and output are related through a </a:t>
            </a:r>
            <a:r>
              <a:rPr lang="en-GB" sz="2800" b="1" dirty="0"/>
              <a:t>linear constant-coefficient difference equation</a:t>
            </a:r>
            <a:r>
              <a:rPr lang="en-GB" sz="2800" dirty="0"/>
              <a:t>. </a:t>
            </a:r>
          </a:p>
          <a:p>
            <a:pPr marL="0" indent="0">
              <a:buNone/>
            </a:pPr>
            <a:r>
              <a:rPr lang="en-GB" sz="2800" dirty="0"/>
              <a:t>Equations of this type are used to describe the sequential behaviour of many different processes.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0123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Linear Constant-Coefficient Differential Equation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a first-order Differential equation (DE)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𝑑𝑦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+2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……..(1)</a:t>
                </a:r>
              </a:p>
              <a:p>
                <a:pPr marL="0" indent="0">
                  <a:buNone/>
                </a:pPr>
                <a:r>
                  <a:rPr lang="en-US" dirty="0"/>
                  <a:t>where y(t) denotes the output of the system and x(t) is the input.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Differential Equations provide an</a:t>
                </a:r>
                <a:r>
                  <a:rPr lang="en-US" b="1" i="1" dirty="0"/>
                  <a:t> implicit </a:t>
                </a:r>
                <a:r>
                  <a:rPr lang="en-US" dirty="0"/>
                  <a:t>specification of the system. That is they describe a relationship between the input and the output, rather than an</a:t>
                </a:r>
                <a:r>
                  <a:rPr lang="en-US" b="1" i="1" dirty="0"/>
                  <a:t> explicit</a:t>
                </a:r>
                <a:r>
                  <a:rPr lang="en-US" dirty="0"/>
                  <a:t> expression for the system output as the function of the input.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  <a:blipFill rotWithShape="1">
                <a:blip r:embed="rId2"/>
                <a:stretch>
                  <a:fillRect l="-1704" t="-3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87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By solving the </a:t>
            </a:r>
            <a:r>
              <a:rPr lang="en-US" b="1" dirty="0"/>
              <a:t>DE</a:t>
            </a:r>
            <a:r>
              <a:rPr lang="en-US" dirty="0"/>
              <a:t> we obtain an </a:t>
            </a:r>
            <a:r>
              <a:rPr lang="en-US" b="1" i="1" dirty="0"/>
              <a:t>explicit</a:t>
            </a:r>
            <a:r>
              <a:rPr lang="en-US" dirty="0"/>
              <a:t> expression, we however will need more information than that provided by the </a:t>
            </a:r>
            <a:r>
              <a:rPr lang="en-US" b="1" dirty="0"/>
              <a:t>DE</a:t>
            </a:r>
            <a:r>
              <a:rPr lang="en-US" dirty="0"/>
              <a:t> alone</a:t>
            </a:r>
          </a:p>
          <a:p>
            <a:pPr marL="0" indent="0">
              <a:buNone/>
            </a:pPr>
            <a:r>
              <a:rPr lang="en-US" dirty="0"/>
              <a:t>We must specify one or more</a:t>
            </a:r>
            <a:r>
              <a:rPr lang="en-US" b="1" i="1" dirty="0"/>
              <a:t> auxiliary conditions</a:t>
            </a:r>
            <a:r>
              <a:rPr lang="en-US" dirty="0"/>
              <a:t> in order to obtain an</a:t>
            </a:r>
            <a:r>
              <a:rPr lang="en-US" b="1" i="1" dirty="0"/>
              <a:t> explicit expression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Different choices for these </a:t>
            </a:r>
            <a:r>
              <a:rPr lang="en-US" b="1" i="1" dirty="0"/>
              <a:t>auxiliary conditions </a:t>
            </a:r>
            <a:r>
              <a:rPr lang="en-US" dirty="0"/>
              <a:t>would lead to different relationships between the input and the output.</a:t>
            </a:r>
          </a:p>
        </p:txBody>
      </p:sp>
    </p:spTree>
    <p:extLst>
      <p:ext uri="{BB962C8B-B14F-4D97-AF65-F5344CB8AC3E}">
        <p14:creationId xmlns:p14="http://schemas.microsoft.com/office/powerpoint/2010/main" val="271593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 a Causal LTI system the auxiliary condition is the condition of initial rest. The condition of initial rest implies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must also equal 0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complete solution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of the DE consists of two parts- a particular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homogenous solution,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.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1852" t="-1576" r="-1704" b="-13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99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homogeneous solution is a solution to the differential with the input set to zero. The homogeneous solution is often referred to as the </a:t>
            </a:r>
            <a:r>
              <a:rPr lang="en-GB" b="1" dirty="0"/>
              <a:t>natural response </a:t>
            </a:r>
            <a:r>
              <a:rPr lang="en-GB" dirty="0"/>
              <a:t>of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53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b="1" dirty="0"/>
              <a:t>Linear Constant-Coefficient Difference Equation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Difference equations applies to </a:t>
                </a:r>
                <a:r>
                  <a:rPr lang="en-US" sz="2800" b="1" dirty="0"/>
                  <a:t>DT signals</a:t>
                </a:r>
                <a:r>
                  <a:rPr lang="en-US" sz="2800" dirty="0"/>
                  <a:t>. An Nth-order linear constant-difference equation is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[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……….(1)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US" sz="3000" dirty="0"/>
                  <a:t>The solution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/>
                      </a:rPr>
                      <m:t>𝑦</m:t>
                    </m:r>
                    <m:r>
                      <a:rPr lang="en-US" sz="3000" i="1">
                        <a:latin typeface="Cambria Math"/>
                      </a:rPr>
                      <m:t>[</m:t>
                    </m:r>
                    <m:r>
                      <a:rPr lang="en-US" sz="3000" i="1">
                        <a:latin typeface="Cambria Math"/>
                      </a:rPr>
                      <m:t>𝑛</m:t>
                    </m:r>
                    <m:r>
                      <a:rPr lang="en-US" sz="3000" i="1">
                        <a:latin typeface="Cambria Math"/>
                      </a:rPr>
                      <m:t>]</m:t>
                    </m:r>
                  </m:oMath>
                </a14:m>
                <a:r>
                  <a:rPr lang="en-US" sz="3000" dirty="0"/>
                  <a:t> can be written as the sum of a particular solution to </a:t>
                </a:r>
                <a:r>
                  <a:rPr lang="en-US" sz="3000" dirty="0" err="1"/>
                  <a:t>eqn</a:t>
                </a:r>
                <a:r>
                  <a:rPr lang="en-US" sz="3000" dirty="0"/>
                  <a:t> (1) and a solution to the homogeneous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</m:e>
                      </m:nary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2022" b="-12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512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Eqn</a:t>
                </a:r>
                <a:r>
                  <a:rPr lang="en-US" dirty="0"/>
                  <a:t>(1) can be rearranged as</a:t>
                </a:r>
              </a:p>
              <a:p>
                <a:pPr marL="0" indent="0">
                  <a:buNone/>
                </a:pPr>
                <a:endParaRPr lang="en-US" sz="28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[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]</m:t>
                            </m:r>
                          </m:e>
                        </m:nary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/>
                              </a:rPr>
                              <m:t>𝑦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2800" dirty="0"/>
                  <a:t>…..(2)</a:t>
                </a:r>
              </a:p>
              <a:p>
                <a:pPr marL="0" indent="0">
                  <a:buNone/>
                </a:pPr>
                <a:r>
                  <a:rPr lang="en-US" sz="2800" dirty="0"/>
                  <a:t>In order to calculate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 </m:t>
                    </m:r>
                    <m:r>
                      <a:rPr lang="en-US" sz="2800" i="1">
                        <a:latin typeface="Cambria Math"/>
                      </a:rPr>
                      <m:t>𝑦</m:t>
                    </m:r>
                    <m:r>
                      <a:rPr lang="en-US" sz="2800" i="1">
                        <a:latin typeface="Cambria Math"/>
                      </a:rPr>
                      <m:t>[</m:t>
                    </m:r>
                    <m:r>
                      <a:rPr lang="en-US" sz="2800" i="1">
                        <a:latin typeface="Cambria Math"/>
                      </a:rPr>
                      <m:t>𝑛</m:t>
                    </m:r>
                    <m:r>
                      <a:rPr lang="en-US" sz="2800" i="1">
                        <a:latin typeface="Cambria Math"/>
                      </a:rPr>
                      <m:t>]</m:t>
                    </m:r>
                  </m:oMath>
                </a14:m>
                <a:r>
                  <a:rPr lang="en-US" sz="2800" dirty="0"/>
                  <a:t>, we need to know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,……</m:t>
                    </m:r>
                    <m:r>
                      <a:rPr lang="en-US" sz="2800" i="1">
                        <a:latin typeface="Cambria Math"/>
                      </a:rPr>
                      <m:t>𝑦</m:t>
                    </m:r>
                    <m:r>
                      <a:rPr lang="en-US" sz="2800" i="1">
                        <a:latin typeface="Cambria Math"/>
                      </a:rPr>
                      <m:t>[</m:t>
                    </m:r>
                    <m:r>
                      <a:rPr lang="en-US" sz="2800" i="1">
                        <a:latin typeface="Cambria Math"/>
                      </a:rPr>
                      <m:t>𝑛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𝑁</m:t>
                    </m:r>
                    <m:r>
                      <a:rPr lang="en-US" sz="2800" i="1">
                        <a:latin typeface="Cambria Math"/>
                      </a:rPr>
                      <m:t>]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An equation of the form (1) and (2) are called a</a:t>
                </a:r>
                <a:r>
                  <a:rPr lang="en-US" sz="2800" b="1" i="1" dirty="0"/>
                  <a:t> recursive</a:t>
                </a:r>
                <a:r>
                  <a:rPr lang="en-US" sz="2800" dirty="0"/>
                  <a:t> equation, since it specifies a recursive procedure for determining the output in terms of the input and previous outputs.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1852" t="-2625" r="-1481" b="-20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80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𝑁</m:t>
                    </m:r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𝑀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   </m:t>
                        </m:r>
                      </m:e>
                    </m:nary>
                  </m:oMath>
                </a14:m>
                <a:r>
                  <a:rPr lang="en-US" dirty="0"/>
                  <a:t>………….(3)</a:t>
                </a:r>
              </a:p>
              <a:p>
                <a:pPr marL="0" indent="0">
                  <a:buNone/>
                </a:pPr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b="1" i="1" dirty="0"/>
                  <a:t>explicit function</a:t>
                </a:r>
                <a:r>
                  <a:rPr lang="en-US" dirty="0"/>
                  <a:t> of the present and previous values of the </a:t>
                </a:r>
                <a:r>
                  <a:rPr lang="en-US" dirty="0" err="1"/>
                  <a:t>input.Eqn</a:t>
                </a:r>
                <a:r>
                  <a:rPr lang="en-US" dirty="0"/>
                  <a:t> (3) is often called a </a:t>
                </a:r>
                <a:r>
                  <a:rPr lang="en-US" b="1" i="1" dirty="0" err="1"/>
                  <a:t>nonrecursive</a:t>
                </a:r>
                <a:r>
                  <a:rPr lang="en-US" dirty="0"/>
                  <a:t> </a:t>
                </a:r>
                <a:r>
                  <a:rPr lang="en-US" dirty="0" err="1"/>
                  <a:t>equation.Eqn</a:t>
                </a:r>
                <a:r>
                  <a:rPr lang="en-US" dirty="0"/>
                  <a:t> (3) is an LTI system and impulse response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/>
                                </a:rPr>
                                <m:t>,  0≤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𝑀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0,  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  <a:blipFill>
                <a:blip r:embed="rId2"/>
                <a:stretch>
                  <a:fillRect l="-1852" t="-2353" r="-11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0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impulse response has a finite duration and it is therefore often called a </a:t>
                </a:r>
                <a:r>
                  <a:rPr lang="en-US" b="1" dirty="0"/>
                  <a:t>finite impulse response (FIR).</a:t>
                </a:r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Consider the difference equation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…………(1)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852" t="-1601" r="-2889" b="-1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403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Solution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/>
                      </a:rPr>
                      <m:t>δ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≤−1</m:t>
                    </m:r>
                  </m:oMath>
                </a14:m>
                <a:r>
                  <a:rPr lang="en-US" dirty="0"/>
                  <a:t>   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=0,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≤−1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→Initial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62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Starting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  </a:t>
                </a:r>
                <a:r>
                  <a:rPr lang="en-US" b="1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  </a:t>
                </a:r>
                <a:r>
                  <a:rPr lang="en-US" b="1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>
                <a:blip r:embed="rId2"/>
                <a:stretch>
                  <a:fillRect l="-1704" t="-3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626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Since (1) with the condition of initial rest is</a:t>
                </a:r>
                <a:r>
                  <a:rPr lang="en-US" b="1" dirty="0"/>
                  <a:t> LTI</a:t>
                </a:r>
                <a:r>
                  <a:rPr lang="en-US" dirty="0"/>
                  <a:t>, its input/output behaviour is completely characterized by its impulse response. Setting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r>
                        <a:rPr lang="en-US" i="1">
                          <a:latin typeface="Cambria Math"/>
                        </a:rPr>
                        <m:t>[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250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2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the Causal LTI system whose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and output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are related by the difference equation.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.Determine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𝑖𝑓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/>
                      </a:rPr>
                      <m:t>δ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−1]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617" r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9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Solution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=0 </m:t>
                      </m:r>
                      <m:r>
                        <a:rPr lang="en-US" i="1">
                          <a:latin typeface="Cambria Math"/>
                        </a:rPr>
                        <m:t>𝑓𝑜𝑟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 </m:t>
                    </m:r>
                    <m:r>
                      <a:rPr lang="en-US" i="1">
                        <a:latin typeface="Cambria Math"/>
                      </a:rPr>
                      <m:t>𝑓𝑜𝑟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≤0</m:t>
                    </m:r>
                  </m:oMath>
                </a14:m>
                <a:r>
                  <a:rPr lang="en-US" dirty="0"/>
                  <a:t>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=0,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  <a:blipFill rotWithShape="1">
                <a:blip r:embed="rId2"/>
                <a:stretch>
                  <a:fillRect l="-1852" t="-1412" b="-24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775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[4]=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                                              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                                              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r>
                        <a:rPr lang="en-US" i="1">
                          <a:latin typeface="Cambria Math"/>
                        </a:rPr>
                        <m:t>[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3" b="-12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75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861</Words>
  <Application>Microsoft Office PowerPoint</Application>
  <PresentationFormat>On-screen Show (4:3)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CAUSAL LTI SYSTEMS DESCRIBED BY DIFFERENTIAL AND DIFFERENCE EQUATIONS</vt:lpstr>
      <vt:lpstr> Linear Constant-Coefficient Differential Equation </vt:lpstr>
      <vt:lpstr>PowerPoint Presentation</vt:lpstr>
      <vt:lpstr>PowerPoint Presentation</vt:lpstr>
      <vt:lpstr>PowerPoint Presentation</vt:lpstr>
      <vt:lpstr> Linear Constant-Coefficient Difference Equation </vt:lpstr>
      <vt:lpstr>PowerPoint Presentation</vt:lpstr>
      <vt:lpstr>PowerPoint Presentation</vt:lpstr>
      <vt:lpstr>PowerPoint Presentation</vt:lpstr>
      <vt:lpstr>Solution </vt:lpstr>
      <vt:lpstr>PowerPoint Presentation</vt:lpstr>
      <vt:lpstr>PowerPoint Presentation</vt:lpstr>
      <vt:lpstr>Example 2 </vt:lpstr>
      <vt:lpstr> Solution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Mr Agyekum</cp:lastModifiedBy>
  <cp:revision>16</cp:revision>
  <dcterms:created xsi:type="dcterms:W3CDTF">2015-10-06T14:59:28Z</dcterms:created>
  <dcterms:modified xsi:type="dcterms:W3CDTF">2019-10-29T11:20:36Z</dcterms:modified>
</cp:coreProperties>
</file>