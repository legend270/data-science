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61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7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395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53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33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9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4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597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6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7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7071D-B292-4285-BDF3-9087F7DDD593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D24E6-7157-475C-9388-CE53B80085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66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28800"/>
            <a:ext cx="7772400" cy="1828799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Fourier series Representation of Discrete-time Periodic Signals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68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If a periodic DT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has a Fourier series representation, then the following equations define the Fourier series of a </a:t>
                </a:r>
                <a:r>
                  <a:rPr lang="en-US" b="1" i="1" dirty="0"/>
                  <a:t>periodic DT signal</a:t>
                </a:r>
                <a:endParaRPr lang="en-US" dirty="0"/>
              </a:p>
              <a:p>
                <a:pPr marL="0" indent="0">
                  <a:buNone/>
                </a:pPr>
                <a:endParaRPr lang="en-US" i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</m:d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e>
                          </m:d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/>
                                    </a:rPr>
                                    <m:t>𝑁</m:t>
                                  </m:r>
                                </m:den>
                              </m:f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…………..(1)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=(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[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]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=(</m:t>
                          </m:r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.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latin typeface="Cambria Math"/>
                            </a:rPr>
                            <m:t>[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]</m:t>
                          </m:r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𝑗𝑘</m:t>
                          </m:r>
                          <m:r>
                            <a:rPr lang="en-US" i="1">
                              <a:latin typeface="Cambria Math"/>
                            </a:rPr>
                            <m:t>(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i="1">
                              <a:latin typeface="Cambria Math"/>
                            </a:rPr>
                            <m:t>)</m:t>
                          </m:r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……..(2)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Equation (1) is known as the </a:t>
                </a:r>
                <a:r>
                  <a:rPr lang="en-US" b="1" i="1" dirty="0"/>
                  <a:t>synthesis equation</a:t>
                </a:r>
                <a:r>
                  <a:rPr lang="en-US" dirty="0"/>
                  <a:t> and equation (2) is the </a:t>
                </a:r>
                <a:r>
                  <a:rPr lang="en-US" b="1" i="1" dirty="0"/>
                  <a:t>analysis equation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889" t="-1970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392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discrete-time Fourier series coefficients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>
                            <a:latin typeface="Cambria Math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dirty="0"/>
                  <a:t> are often referred to as the </a:t>
                </a:r>
                <a:r>
                  <a:rPr lang="en-US" b="1" i="1" dirty="0"/>
                  <a:t>spectral coefficients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. These coefficients specify a decomposition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into a sum of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𝑵</m:t>
                    </m:r>
                  </m:oMath>
                </a14:m>
                <a:r>
                  <a:rPr lang="en-US" dirty="0"/>
                  <a:t> harmonically related </a:t>
                </a:r>
                <a:r>
                  <a:rPr lang="en-US" b="1" i="1" dirty="0"/>
                  <a:t>complex exponentials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52" t="-1617" r="-1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1205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Example</a:t>
            </a:r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the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]=</m:t>
                    </m:r>
                    <m:r>
                      <a:rPr lang="en-US" i="1">
                        <a:latin typeface="Cambria Math"/>
                      </a:rPr>
                      <m:t>𝑠𝑖𝑛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                              Solution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r>
                      <a:rPr lang="en-US" i="1">
                        <a:latin typeface="Cambria Math"/>
                      </a:rPr>
                      <m:t>[</m:t>
                    </m:r>
                    <m:r>
                      <a:rPr lang="en-US" i="1">
                        <a:latin typeface="Cambria Math"/>
                      </a:rPr>
                      <m:t>𝑛</m:t>
                    </m:r>
                    <m:r>
                      <a:rPr lang="en-US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is periodic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𝑜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𝑁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Now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)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r>
                          <a:rPr lang="en-US" i="1">
                            <a:latin typeface="Cambria Math"/>
                          </a:rPr>
                          <m:t>𝑗</m:t>
                        </m:r>
                        <m:r>
                          <a:rPr lang="en-US" i="1">
                            <a:latin typeface="Cambria Math"/>
                          </a:rPr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  <m:r>
                              <a:rPr lang="en-US" i="1">
                                <a:latin typeface="Cambria Math"/>
                              </a:rPr>
                              <m:t>𝜋</m:t>
                            </m:r>
                          </m:num>
                          <m:den>
                            <m:r>
                              <a:rPr lang="en-US" i="1">
                                <a:latin typeface="Cambria Math"/>
                              </a:rPr>
                              <m:t>𝑁</m:t>
                            </m:r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)</m:t>
                        </m:r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Comparing this with </a:t>
                </a:r>
                <a:r>
                  <a:rPr lang="en-US" dirty="0" err="1"/>
                  <a:t>eqn</a:t>
                </a:r>
                <a:r>
                  <a:rPr lang="en-US" dirty="0"/>
                  <a:t> (1)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𝑎𝑛𝑑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  <m:r>
                            <a:rPr lang="en-US" i="1">
                              <a:latin typeface="Cambria Math"/>
                            </a:rPr>
                            <m:t>𝑗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05400"/>
              </a:xfrm>
              <a:blipFill rotWithShape="1">
                <a:blip r:embed="rId2"/>
                <a:stretch>
                  <a:fillRect l="-1852" t="-2389" b="-30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3435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And the remaining coefficients over the interval of summation are zero.</a:t>
                </a:r>
              </a:p>
              <a:p>
                <a:pPr marL="0" indent="0">
                  <a:buNone/>
                </a:pPr>
                <a:r>
                  <a:rPr lang="en-US" dirty="0"/>
                  <a:t>These coefficients repeat with period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𝑁</m:t>
                    </m:r>
                  </m:oMath>
                </a14:m>
                <a:r>
                  <a:rPr lang="en-US" dirty="0"/>
                  <a:t>.For example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𝑁</m:t>
                    </m:r>
                    <m:r>
                      <a:rPr lang="en-US" i="1">
                        <a:latin typeface="Cambria Math"/>
                      </a:rPr>
                      <m:t>=5</m:t>
                    </m:r>
                  </m:oMath>
                </a14:m>
                <a:r>
                  <a:rPr lang="en-US" dirty="0"/>
                  <a:t> we get the illustration below.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752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191000"/>
            <a:ext cx="7239000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58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FOURIER SERIES AND LTI SYSTEMS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Consider an LTI system with an input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𝑠𝑡</m:t>
                        </m:r>
                      </m:sup>
                    </m:sSup>
                  </m:oMath>
                </a14:m>
                <a:r>
                  <a:rPr lang="en-US" dirty="0"/>
                  <a:t>- Complex exponential. From the convolution integral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𝜏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)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𝑑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𝜏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)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r>
                            <a:rPr lang="en-US" i="1">
                              <a:latin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𝑠𝑡</m:t>
                          </m:r>
                        </m:sup>
                      </m:sSup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𝜏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𝜏</m:t>
                              </m:r>
                            </m:sup>
                          </m:sSup>
                          <m:r>
                            <a:rPr lang="en-US" i="1">
                              <a:latin typeface="Cambria Math"/>
                            </a:rPr>
                            <m:t>𝑑</m:t>
                          </m:r>
                          <m:r>
                            <a:rPr lang="en-US" i="1">
                              <a:latin typeface="Cambria Math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               =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/>
                      </a:rPr>
                      <m:t>     </m:t>
                    </m:r>
                    <m:r>
                      <a:rPr lang="en-US" i="1" smtClean="0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𝑠</m:t>
                    </m:r>
                    <m:r>
                      <a:rPr lang="en-US" i="1">
                        <a:latin typeface="Cambria Math"/>
                      </a:rPr>
                      <m:t>)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𝑠𝑡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𝜏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  <m:r>
                              <a:rPr lang="en-US" i="1">
                                <a:latin typeface="Cambria Math"/>
                              </a:rPr>
                              <m:t>𝜏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𝑑</m:t>
                        </m:r>
                        <m:r>
                          <a:rPr lang="en-US" i="1">
                            <a:latin typeface="Cambria Math"/>
                          </a:rPr>
                          <m:t>𝜏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407" t="-18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028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In which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𝒉</m:t>
                    </m:r>
                    <m:r>
                      <a:rPr lang="en-US" b="1" i="1">
                        <a:latin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</a:rPr>
                      <m:t>𝒕</m:t>
                    </m:r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impulse response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r>
                  <a:rPr lang="en-US" dirty="0"/>
                  <a:t>Similarly,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the input to a DT </a:t>
                </a:r>
                <a:r>
                  <a:rPr lang="en-US" b="1" dirty="0"/>
                  <a:t>LTI</a:t>
                </a:r>
                <a:r>
                  <a:rPr lang="en-US" dirty="0"/>
                  <a:t> system, then the output is given by</a:t>
                </a:r>
              </a:p>
              <a:p>
                <a:pPr marL="0" indent="0">
                  <a:buNone/>
                </a:pPr>
                <a:r>
                  <a:rPr lang="en-US" dirty="0"/>
                  <a:t>Similarly,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the input to a DT </a:t>
                </a:r>
                <a:r>
                  <a:rPr lang="en-US" b="1" dirty="0"/>
                  <a:t>LTI</a:t>
                </a:r>
                <a:r>
                  <a:rPr lang="en-US" dirty="0"/>
                  <a:t> system, then the output is given by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r>
                            <a:rPr lang="en-US" i="1">
                              <a:latin typeface="Cambria Math"/>
                            </a:rPr>
                            <m:t>=</m:t>
                          </m:r>
                        </m:e>
                      </m:nary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𝑧</m:t>
                          </m:r>
                        </m:e>
                        <m:sup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p>
                      </m:sSup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=−∞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/>
                            </a:rPr>
                            <m:t>h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			=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)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181600"/>
              </a:xfrm>
              <a:blipFill rotWithShape="1">
                <a:blip r:embed="rId2"/>
                <a:stretch>
                  <a:fillRect l="-1333" t="-2353" r="-1630" b="-14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6494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𝑘</m:t>
                        </m:r>
                        <m:r>
                          <a:rPr lang="en-US" i="1">
                            <a:latin typeface="Cambria Math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 which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𝒉</m:t>
                    </m:r>
                    <m:r>
                      <a:rPr lang="en-US" b="1" i="1">
                        <a:latin typeface="Cambria Math"/>
                      </a:rPr>
                      <m:t>[</m:t>
                    </m:r>
                    <m:r>
                      <a:rPr lang="en-US" b="1" i="1">
                        <a:latin typeface="Cambria Math"/>
                      </a:rPr>
                      <m:t>𝒏</m:t>
                    </m:r>
                    <m:r>
                      <a:rPr lang="en-US" b="1" i="1">
                        <a:latin typeface="Cambria Math"/>
                      </a:rPr>
                      <m:t>]</m:t>
                    </m:r>
                  </m:oMath>
                </a14:m>
                <a:r>
                  <a:rPr lang="en-US" dirty="0"/>
                  <a:t> is the </a:t>
                </a:r>
                <a:r>
                  <a:rPr lang="en-US" b="1" i="1" dirty="0"/>
                  <a:t>impulse response</a:t>
                </a:r>
                <a:r>
                  <a:rPr lang="en-US" dirty="0"/>
                  <a:t> of the </a:t>
                </a:r>
                <a:r>
                  <a:rPr lang="en-US" b="1" dirty="0"/>
                  <a:t>LTI</a:t>
                </a:r>
                <a:r>
                  <a:rPr lang="en-US" dirty="0"/>
                  <a:t> system.</a:t>
                </a:r>
              </a:p>
              <a:p>
                <a:pPr marL="0" indent="0">
                  <a:buNone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𝒔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𝒐𝒓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𝒛</m:t>
                    </m:r>
                  </m:oMath>
                </a14:m>
                <a:r>
                  <a:rPr lang="en-US" dirty="0"/>
                  <a:t> are general </a:t>
                </a:r>
                <a:r>
                  <a:rPr lang="en-US" b="1" i="1" dirty="0"/>
                  <a:t>complex numbers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/>
                      </a:rPr>
                      <m:t>𝑯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/>
                          </a:rPr>
                          <m:t>𝒔</m:t>
                        </m:r>
                      </m:e>
                    </m:d>
                    <m:r>
                      <a:rPr lang="en-US" b="1" i="1">
                        <a:latin typeface="Cambria Math"/>
                      </a:rPr>
                      <m:t>𝒂𝒏𝒅</m:t>
                    </m:r>
                    <m:r>
                      <a:rPr lang="en-US" b="1" i="1">
                        <a:latin typeface="Cambria Math"/>
                      </a:rPr>
                      <m:t> </m:t>
                    </m:r>
                    <m:r>
                      <a:rPr lang="en-US" b="1" i="1">
                        <a:latin typeface="Cambria Math"/>
                      </a:rPr>
                      <m:t>𝑯</m:t>
                    </m:r>
                    <m:r>
                      <a:rPr lang="en-US" b="1" i="1">
                        <a:latin typeface="Cambria Math"/>
                      </a:rPr>
                      <m:t>(</m:t>
                    </m:r>
                    <m:r>
                      <a:rPr lang="en-US" b="1" i="1">
                        <a:latin typeface="Cambria Math"/>
                      </a:rPr>
                      <m:t>𝒛</m:t>
                    </m:r>
                    <m:r>
                      <a:rPr lang="en-US" b="1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are referred to as </a:t>
                </a:r>
                <a:r>
                  <a:rPr lang="en-US" i="1" dirty="0"/>
                  <a:t>the </a:t>
                </a:r>
                <a:r>
                  <a:rPr lang="en-US" b="1" i="1" dirty="0"/>
                  <a:t>system functions</a:t>
                </a:r>
                <a:r>
                  <a:rPr lang="en-US" dirty="0"/>
                  <a:t> of the corresponding systems.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CT when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𝑅𝑒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=0→</m:t>
                    </m:r>
                    <m:r>
                      <a:rPr lang="en-US" i="1">
                        <a:latin typeface="Cambria Math"/>
                      </a:rPr>
                      <m:t>𝑠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𝑗𝑤</m:t>
                    </m:r>
                  </m:oMath>
                </a14:m>
                <a:r>
                  <a:rPr lang="en-US" dirty="0"/>
                  <a:t> then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𝑗𝑤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limLoc m:val="subSu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+∞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𝑗𝑤𝑡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dirty="0"/>
                  <a:t> is referred to as the </a:t>
                </a:r>
                <a:r>
                  <a:rPr lang="en-US" b="1" i="1" dirty="0"/>
                  <a:t>frequency response</a:t>
                </a:r>
                <a:r>
                  <a:rPr lang="en-US" dirty="0"/>
                  <a:t> of the system.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1704" t="-1970" b="-96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1117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Similarly for the DT signals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=1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𝑧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𝑗𝑤</m:t>
                        </m:r>
                      </m:sup>
                    </m:sSup>
                  </m:oMath>
                </a14:m>
                <a:r>
                  <a:rPr lang="en-US" dirty="0"/>
                  <a:t> then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𝐻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𝑗𝑤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latin typeface="Cambria Math"/>
                          </a:rPr>
                          <m:t>=−∞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∞</m:t>
                        </m:r>
                      </m:sup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𝑗𝑤𝑛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 is also referred to as the</a:t>
                </a:r>
                <a:r>
                  <a:rPr lang="en-US" b="1" i="1" dirty="0"/>
                  <a:t> frequency response</a:t>
                </a:r>
                <a:r>
                  <a:rPr lang="en-US" dirty="0"/>
                  <a:t> of the system.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852" t="-1482" r="-2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124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420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Fourier series Representation of Discrete-time Periodic Signals </vt:lpstr>
      <vt:lpstr>PowerPoint Presentation</vt:lpstr>
      <vt:lpstr>PowerPoint Presentation</vt:lpstr>
      <vt:lpstr> Example </vt:lpstr>
      <vt:lpstr>PowerPoint Presentation</vt:lpstr>
      <vt:lpstr>FOURIER SERIES AND LTI SYSTEMS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Mr Agyekum</cp:lastModifiedBy>
  <cp:revision>12</cp:revision>
  <dcterms:created xsi:type="dcterms:W3CDTF">2015-10-14T07:11:39Z</dcterms:created>
  <dcterms:modified xsi:type="dcterms:W3CDTF">2021-02-24T13:49:46Z</dcterms:modified>
</cp:coreProperties>
</file>